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1"/>
  </p:notesMasterIdLst>
  <p:sldIdLst>
    <p:sldId id="256" r:id="rId5"/>
    <p:sldId id="261" r:id="rId6"/>
    <p:sldId id="262" r:id="rId7"/>
    <p:sldId id="263" r:id="rId8"/>
    <p:sldId id="264" r:id="rId9"/>
    <p:sldId id="265" r:id="rId10"/>
  </p:sldIdLst>
  <p:sldSz cx="12192000" cy="1625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E6475E-1818-1BCD-2E1C-432A93CC648B}" name="Imogen Rimmer" initials="IR" userId="S::pmyir1@nottingham.ac.uk::d129804c-2e55-4275-9241-4189d8694c7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B4B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584A72-4967-4C8A-89E2-55959B395621}" v="92" dt="2026-02-24T12:51:06.7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>
      <p:cViewPr>
        <p:scale>
          <a:sx n="42" d="100"/>
          <a:sy n="42" d="100"/>
        </p:scale>
        <p:origin x="226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77619-0848-4509-8B55-77C3C1CDF214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CC03AC-5F07-4F30-982A-7F1420B37A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658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CC03AC-5F07-4F30-982A-7F1420B37A2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353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A7454-624D-5A77-171A-6E61789E8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AA231A-2E8B-75A8-A472-FA3B570F9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D700E8-BB9E-60FF-B8C9-824381355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5FD1B-C34E-19EF-4BE6-33E3C63C4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CC03AC-5F07-4F30-982A-7F1420B37A2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4978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D6FA4-E70D-CED2-02FC-E26E7C737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25ABDA-D67C-B1C5-277C-A431B7A0B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D5DDF4-516C-5701-01C3-E2A771492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9620B-5E8F-31B2-2028-1E2C560E5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CC03AC-5F07-4F30-982A-7F1420B37A2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673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8AC98-01EB-BFDA-97BD-F48E01C2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2E209F-7BC7-80AE-7211-DA21C8B2A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0612A9-C94A-28B2-E1C1-0572374A62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CBCD1-E701-08B9-C3C9-08EF1E32F2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CC03AC-5F07-4F30-982A-7F1420B37A2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6985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8AC98-01EB-BFDA-97BD-F48E01C2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2E209F-7BC7-80AE-7211-DA21C8B2A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0612A9-C94A-28B2-E1C1-0572374A62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CBCD1-E701-08B9-C3C9-08EF1E32F2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CC03AC-5F07-4F30-982A-7F1420B37A2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59163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57F41-9650-D102-B470-93B187F9C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2C91B7-1432-C135-13DC-E03A0AE3F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797256-9D5E-0EDE-3702-2980F665A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FFF6B-1D22-F8A3-8350-0BCA93DB9A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CC03AC-5F07-4F30-982A-7F1420B37A2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8496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60416"/>
            <a:ext cx="10363200" cy="5659496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8538164"/>
            <a:ext cx="9144000" cy="3924769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E78F-A01E-49C3-AA45-75E6FD4B1375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27AE5-2197-428D-AE56-B9D1C4B301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5706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E78F-A01E-49C3-AA45-75E6FD4B1375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27AE5-2197-428D-AE56-B9D1C4B301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175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052716"/>
            <a:ext cx="10515600" cy="6762043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0878731"/>
            <a:ext cx="10515600" cy="3555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E78F-A01E-49C3-AA45-75E6FD4B1375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27AE5-2197-428D-AE56-B9D1C4B301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4075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4327407"/>
            <a:ext cx="5181600" cy="10314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4327407"/>
            <a:ext cx="5181600" cy="10314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E78F-A01E-49C3-AA45-75E6FD4B1375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27AE5-2197-428D-AE56-B9D1C4B301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551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5485"/>
            <a:ext cx="10515600" cy="31420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984979"/>
            <a:ext cx="5157787" cy="195297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937956"/>
            <a:ext cx="5157787" cy="873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984979"/>
            <a:ext cx="5183188" cy="195297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937956"/>
            <a:ext cx="5183188" cy="873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E78F-A01E-49C3-AA45-75E6FD4B1375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27AE5-2197-428D-AE56-B9D1C4B301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1616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E78F-A01E-49C3-AA45-75E6FD4B1375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27AE5-2197-428D-AE56-B9D1C4B301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489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E78F-A01E-49C3-AA45-75E6FD4B1375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27AE5-2197-428D-AE56-B9D1C4B301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093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83733"/>
            <a:ext cx="3932237" cy="379306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340567"/>
            <a:ext cx="6172200" cy="11552296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76800"/>
            <a:ext cx="3932237" cy="903487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E78F-A01E-49C3-AA45-75E6FD4B1375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27AE5-2197-428D-AE56-B9D1C4B301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7479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83733"/>
            <a:ext cx="3932237" cy="379306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340567"/>
            <a:ext cx="6172200" cy="11552296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76800"/>
            <a:ext cx="3932237" cy="903487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E78F-A01E-49C3-AA45-75E6FD4B1375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27AE5-2197-428D-AE56-B9D1C4B301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3331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E78F-A01E-49C3-AA45-75E6FD4B1375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27AE5-2197-428D-AE56-B9D1C4B301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7545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865481"/>
            <a:ext cx="2628900" cy="1377620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865481"/>
            <a:ext cx="7734300" cy="1377620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E78F-A01E-49C3-AA45-75E6FD4B1375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27AE5-2197-428D-AE56-B9D1C4B301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7225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865485"/>
            <a:ext cx="10515600" cy="3142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327407"/>
            <a:ext cx="10515600" cy="10314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5066908"/>
            <a:ext cx="27432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66E78F-A01E-49C3-AA45-75E6FD4B1375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5066908"/>
            <a:ext cx="41148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5066908"/>
            <a:ext cx="27432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327AE5-2197-428D-AE56-B9D1C4B301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649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5E4507-1C45-6647-5FDD-5873F3F2C9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7421" y="378548"/>
            <a:ext cx="10817157" cy="476069"/>
          </a:xfrm>
        </p:spPr>
        <p:txBody>
          <a:bodyPr>
            <a:normAutofit fontScale="90000"/>
          </a:bodyPr>
          <a:lstStyle/>
          <a:p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Preparation of 3-Methylbutyl Acetate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C1F016-BB37-3D59-AD41-563A6AA18A64}"/>
              </a:ext>
            </a:extLst>
          </p:cNvPr>
          <p:cNvSpPr/>
          <p:nvPr/>
        </p:nvSpPr>
        <p:spPr>
          <a:xfrm>
            <a:off x="687421" y="898804"/>
            <a:ext cx="10817156" cy="39066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A702F67-0070-475D-2367-84DD0888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749969"/>
              </p:ext>
            </p:extLst>
          </p:nvPr>
        </p:nvGraphicFramePr>
        <p:xfrm>
          <a:off x="683394" y="4948243"/>
          <a:ext cx="10821183" cy="9190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87315">
                  <a:extLst>
                    <a:ext uri="{9D8B030D-6E8A-4147-A177-3AD203B41FA5}">
                      <a16:colId xmlns:a16="http://schemas.microsoft.com/office/drawing/2014/main" val="261477988"/>
                    </a:ext>
                  </a:extLst>
                </a:gridCol>
                <a:gridCol w="2470400">
                  <a:extLst>
                    <a:ext uri="{9D8B030D-6E8A-4147-A177-3AD203B41FA5}">
                      <a16:colId xmlns:a16="http://schemas.microsoft.com/office/drawing/2014/main" val="487422442"/>
                    </a:ext>
                  </a:extLst>
                </a:gridCol>
                <a:gridCol w="3067662">
                  <a:extLst>
                    <a:ext uri="{9D8B030D-6E8A-4147-A177-3AD203B41FA5}">
                      <a16:colId xmlns:a16="http://schemas.microsoft.com/office/drawing/2014/main" val="2472052662"/>
                    </a:ext>
                  </a:extLst>
                </a:gridCol>
                <a:gridCol w="3095806">
                  <a:extLst>
                    <a:ext uri="{9D8B030D-6E8A-4147-A177-3AD203B41FA5}">
                      <a16:colId xmlns:a16="http://schemas.microsoft.com/office/drawing/2014/main" val="2091609847"/>
                    </a:ext>
                  </a:extLst>
                </a:gridCol>
              </a:tblGrid>
              <a:tr h="3698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8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Mass of product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Mass of Waste Generated </a:t>
                      </a:r>
                      <a:endParaRPr lang="en-GB" sz="18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Mass of Hazardous Waste </a:t>
                      </a:r>
                      <a:endParaRPr lang="en-GB" sz="18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136211"/>
                  </a:ext>
                </a:extLst>
              </a:tr>
              <a:tr h="5491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 X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10.8 g 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332 g </a:t>
                      </a:r>
                      <a:endParaRPr lang="en-GB" sz="18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18.2 g </a:t>
                      </a:r>
                      <a:endParaRPr lang="en-GB" sz="18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344059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9D215A3-A751-4678-2FA7-0B11205271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020347"/>
              </p:ext>
            </p:extLst>
          </p:nvPr>
        </p:nvGraphicFramePr>
        <p:xfrm>
          <a:off x="682541" y="6221122"/>
          <a:ext cx="10822887" cy="1211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8487">
                  <a:extLst>
                    <a:ext uri="{9D8B030D-6E8A-4147-A177-3AD203B41FA5}">
                      <a16:colId xmlns:a16="http://schemas.microsoft.com/office/drawing/2014/main" val="3774288868"/>
                    </a:ext>
                  </a:extLst>
                </a:gridCol>
                <a:gridCol w="4327200">
                  <a:extLst>
                    <a:ext uri="{9D8B030D-6E8A-4147-A177-3AD203B41FA5}">
                      <a16:colId xmlns:a16="http://schemas.microsoft.com/office/drawing/2014/main" val="4041270877"/>
                    </a:ext>
                  </a:extLst>
                </a:gridCol>
                <a:gridCol w="4327200">
                  <a:extLst>
                    <a:ext uri="{9D8B030D-6E8A-4147-A177-3AD203B41FA5}">
                      <a16:colId xmlns:a16="http://schemas.microsoft.com/office/drawing/2014/main" val="544143736"/>
                    </a:ext>
                  </a:extLst>
                </a:gridCol>
              </a:tblGrid>
              <a:tr h="406999">
                <a:tc>
                  <a:txBody>
                    <a:bodyPr/>
                    <a:lstStyle/>
                    <a:p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Estimated Energy Usage (Hot Plates, Heat Gun)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Estimated Cost of Reagents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815991"/>
                  </a:ext>
                </a:extLst>
              </a:tr>
              <a:tr h="571661"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 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0.325 kWh</a:t>
                      </a:r>
                      <a:endParaRPr lang="en-GB" sz="1800" dirty="0">
                        <a:highlight>
                          <a:srgbClr val="FFFF0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£6.24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595353"/>
                  </a:ext>
                </a:extLst>
              </a:tr>
            </a:tbl>
          </a:graphicData>
        </a:graphic>
      </p:graphicFrame>
      <p:sp>
        <p:nvSpPr>
          <p:cNvPr id="14" name="Subtitle 13">
            <a:extLst>
              <a:ext uri="{FF2B5EF4-FFF2-40B4-BE49-F238E27FC236}">
                <a16:creationId xmlns:a16="http://schemas.microsoft.com/office/drawing/2014/main" id="{91097068-330B-BAAD-5FD0-92D86AEE4F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7668" y="5893320"/>
            <a:ext cx="10825212" cy="673569"/>
          </a:xfrm>
        </p:spPr>
        <p:txBody>
          <a:bodyPr>
            <a:noAutofit/>
          </a:bodyPr>
          <a:lstStyle/>
          <a:p>
            <a:pPr algn="just"/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Student X is representative of a student who achieved an average yield in this experiment.</a:t>
            </a:r>
          </a:p>
          <a:p>
            <a:pPr algn="just"/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6090198-67A7-F5F5-EB91-5AE2A9693E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761535"/>
              </p:ext>
            </p:extLst>
          </p:nvPr>
        </p:nvGraphicFramePr>
        <p:xfrm>
          <a:off x="1008500" y="3604260"/>
          <a:ext cx="10175000" cy="1112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000">
                  <a:extLst>
                    <a:ext uri="{9D8B030D-6E8A-4147-A177-3AD203B41FA5}">
                      <a16:colId xmlns:a16="http://schemas.microsoft.com/office/drawing/2014/main" val="1019814480"/>
                    </a:ext>
                  </a:extLst>
                </a:gridCol>
                <a:gridCol w="2035000">
                  <a:extLst>
                    <a:ext uri="{9D8B030D-6E8A-4147-A177-3AD203B41FA5}">
                      <a16:colId xmlns:a16="http://schemas.microsoft.com/office/drawing/2014/main" val="2238088619"/>
                    </a:ext>
                  </a:extLst>
                </a:gridCol>
                <a:gridCol w="2035000">
                  <a:extLst>
                    <a:ext uri="{9D8B030D-6E8A-4147-A177-3AD203B41FA5}">
                      <a16:colId xmlns:a16="http://schemas.microsoft.com/office/drawing/2014/main" val="1067779865"/>
                    </a:ext>
                  </a:extLst>
                </a:gridCol>
                <a:gridCol w="2035000">
                  <a:extLst>
                    <a:ext uri="{9D8B030D-6E8A-4147-A177-3AD203B41FA5}">
                      <a16:colId xmlns:a16="http://schemas.microsoft.com/office/drawing/2014/main" val="3236657354"/>
                    </a:ext>
                  </a:extLst>
                </a:gridCol>
                <a:gridCol w="2035000">
                  <a:extLst>
                    <a:ext uri="{9D8B030D-6E8A-4147-A177-3AD203B41FA5}">
                      <a16:colId xmlns:a16="http://schemas.microsoft.com/office/drawing/2014/main" val="2549884812"/>
                    </a:ext>
                  </a:extLst>
                </a:gridCol>
              </a:tblGrid>
              <a:tr h="707785"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Atom Efficiency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Percentage Yield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E-Factor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Reaction Mass Efficiency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 Mass Intensity (PMI)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86160"/>
                  </a:ext>
                </a:extLst>
              </a:tr>
              <a:tr h="404449"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30.7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24 %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31.7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862815"/>
                  </a:ext>
                </a:extLst>
              </a:tr>
            </a:tbl>
          </a:graphicData>
        </a:graphic>
      </p:graphicFrame>
      <p:sp>
        <p:nvSpPr>
          <p:cNvPr id="48" name="TextBox 47">
            <a:extLst>
              <a:ext uri="{FF2B5EF4-FFF2-40B4-BE49-F238E27FC236}">
                <a16:creationId xmlns:a16="http://schemas.microsoft.com/office/drawing/2014/main" id="{A5A318D8-4B37-8DDD-5C45-5E05DF7DDB8A}"/>
              </a:ext>
            </a:extLst>
          </p:cNvPr>
          <p:cNvSpPr txBox="1"/>
          <p:nvPr/>
        </p:nvSpPr>
        <p:spPr>
          <a:xfrm>
            <a:off x="755850" y="11090270"/>
            <a:ext cx="5187917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Shows how E-factor and percentage yield are related, and how a yield of 70 % or higher results in a ‘green’ E-factor. A yield of 20% or higher results in ‘yellow’ E-factor. 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137CF63-63F1-98F6-1411-DC6AD49BE318}"/>
              </a:ext>
            </a:extLst>
          </p:cNvPr>
          <p:cNvSpPr/>
          <p:nvPr/>
        </p:nvSpPr>
        <p:spPr>
          <a:xfrm>
            <a:off x="679365" y="7532514"/>
            <a:ext cx="5329631" cy="5185151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9C4D1F2-33FC-62D2-0DF9-B964AE897EED}"/>
              </a:ext>
            </a:extLst>
          </p:cNvPr>
          <p:cNvSpPr/>
          <p:nvPr/>
        </p:nvSpPr>
        <p:spPr>
          <a:xfrm>
            <a:off x="6166890" y="7532514"/>
            <a:ext cx="5329631" cy="5185151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1" name="Table 60">
                <a:extLst>
                  <a:ext uri="{FF2B5EF4-FFF2-40B4-BE49-F238E27FC236}">
                    <a16:creationId xmlns:a16="http://schemas.microsoft.com/office/drawing/2014/main" id="{674A9CA9-2744-494B-C4FC-1A12D87D8F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4489693"/>
                  </p:ext>
                </p:extLst>
              </p:nvPr>
            </p:nvGraphicFramePr>
            <p:xfrm>
              <a:off x="683395" y="12849743"/>
              <a:ext cx="10808355" cy="29874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2421">
                      <a:extLst>
                        <a:ext uri="{9D8B030D-6E8A-4147-A177-3AD203B41FA5}">
                          <a16:colId xmlns:a16="http://schemas.microsoft.com/office/drawing/2014/main" val="2212660851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3390711754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918066876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183707299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1434114583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081822805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107851083"/>
                        </a:ext>
                      </a:extLst>
                    </a:gridCol>
                  </a:tblGrid>
                  <a:tr h="691020">
                    <a:tc>
                      <a:txBody>
                        <a:bodyPr/>
                        <a:lstStyle/>
                        <a:p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% based metrics</a:t>
                          </a:r>
                          <a:r>
                            <a:rPr lang="en-GB" sz="18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E-Factor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PMI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% Hazardous Waste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Mass of Waste/Student (g) 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Cost/student (£)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8747805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Green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(good)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31.24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1.56 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7449638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Yellow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(medium)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70 %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&lt;90 %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≤100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31.2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≤49.6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10 %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≤30 %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≤200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1.56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≤3.13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4861817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Red 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(poor)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&lt;70 %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&gt;49.59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&gt;30 %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200 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3.13 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3110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1" name="Table 60">
                <a:extLst>
                  <a:ext uri="{FF2B5EF4-FFF2-40B4-BE49-F238E27FC236}">
                    <a16:creationId xmlns:a16="http://schemas.microsoft.com/office/drawing/2014/main" id="{674A9CA9-2744-494B-C4FC-1A12D87D8F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4489693"/>
                  </p:ext>
                </p:extLst>
              </p:nvPr>
            </p:nvGraphicFramePr>
            <p:xfrm>
              <a:off x="683395" y="12849743"/>
              <a:ext cx="10808355" cy="29874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2421">
                      <a:extLst>
                        <a:ext uri="{9D8B030D-6E8A-4147-A177-3AD203B41FA5}">
                          <a16:colId xmlns:a16="http://schemas.microsoft.com/office/drawing/2014/main" val="2212660851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3390711754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918066876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183707299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1434114583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081822805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10785108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% based metrics</a:t>
                          </a:r>
                          <a:r>
                            <a:rPr lang="en-GB" sz="18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E-Factor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PMI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% Hazardous Waste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Mass of Waste/Student (g) 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Cost/student (£)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8747805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Green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(good)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7481" t="-135965" r="-500763" b="-20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7481" t="-135965" r="-400763" b="-20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481" t="-135965" r="-300763" b="-20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7481" t="-135965" r="-200763" b="-20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7481" t="-135965" r="-100763" b="-20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77481" t="-135965" r="-763" b="-2061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7449638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Yellow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(medium)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7481" t="-238053" r="-500763" b="-10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7481" t="-238053" r="-400763" b="-10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481" t="-238053" r="-300763" b="-10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7481" t="-238053" r="-200763" b="-10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7481" t="-238053" r="-100763" b="-10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77481" t="-238053" r="-763" b="-1079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4861817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Red 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(poor)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7481" t="-335088" r="-500763" b="-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7481" t="-335088" r="-400763" b="-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481" t="-335088" r="-300763" b="-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7481" t="-335088" r="-200763" b="-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7481" t="-335088" r="-100763" b="-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77481" t="-335088" r="-763" b="-70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31105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CA585C82-66A1-1553-A5C2-295BBFCB50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3" t="16595" r="12951" b="8631"/>
          <a:stretch>
            <a:fillRect/>
          </a:stretch>
        </p:blipFill>
        <p:spPr>
          <a:xfrm>
            <a:off x="746726" y="8128000"/>
            <a:ext cx="5201107" cy="285771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62A5B33-8E8C-6D60-EC1E-AF3B652C67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0" t="16767" r="2962" b="8794"/>
          <a:stretch>
            <a:fillRect/>
          </a:stretch>
        </p:blipFill>
        <p:spPr>
          <a:xfrm>
            <a:off x="6333125" y="8128000"/>
            <a:ext cx="5103025" cy="292274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DC48D00-1457-E06A-B8B9-869BF649C0EE}"/>
              </a:ext>
            </a:extLst>
          </p:cNvPr>
          <p:cNvSpPr txBox="1"/>
          <p:nvPr/>
        </p:nvSpPr>
        <p:spPr>
          <a:xfrm>
            <a:off x="6306492" y="7506497"/>
            <a:ext cx="5103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Range of Percentage Yield Values in a Cohort Compared with E-Factor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F355BD-D257-3E76-42DB-B4234EF05A8E}"/>
              </a:ext>
            </a:extLst>
          </p:cNvPr>
          <p:cNvSpPr txBox="1"/>
          <p:nvPr/>
        </p:nvSpPr>
        <p:spPr>
          <a:xfrm>
            <a:off x="1151877" y="7537843"/>
            <a:ext cx="4639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Percentage Yield and E-Factor for Y1O-001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59DF35-447B-8868-4725-FBD1036E0330}"/>
              </a:ext>
            </a:extLst>
          </p:cNvPr>
          <p:cNvSpPr txBox="1"/>
          <p:nvPr/>
        </p:nvSpPr>
        <p:spPr>
          <a:xfrm>
            <a:off x="6315671" y="11133221"/>
            <a:ext cx="50320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Shows how only students achieving a percentage yield above the upper quartile will have a good E-factor. Also shows that most students will achieve a good or moderate E-factor.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B20FD9-411C-6DDC-4741-D95AB84D6EA0}"/>
              </a:ext>
            </a:extLst>
          </p:cNvPr>
          <p:cNvSpPr txBox="1"/>
          <p:nvPr/>
        </p:nvSpPr>
        <p:spPr>
          <a:xfrm>
            <a:off x="9334500" y="976002"/>
            <a:ext cx="21016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Skills: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Reflux Reaction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Separating Funnel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Distillation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6680BB1-6585-FD1F-5C5A-DA89FAFFF57B}"/>
              </a:ext>
            </a:extLst>
          </p:cNvPr>
          <p:cNvSpPr/>
          <p:nvPr/>
        </p:nvSpPr>
        <p:spPr>
          <a:xfrm>
            <a:off x="9334500" y="976002"/>
            <a:ext cx="2101649" cy="1679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2" name="Object 31">
            <a:extLst>
              <a:ext uri="{FF2B5EF4-FFF2-40B4-BE49-F238E27FC236}">
                <a16:creationId xmlns:a16="http://schemas.microsoft.com/office/drawing/2014/main" id="{1F3D252B-4DE3-584F-98B8-609AF4C00B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5211923"/>
              </p:ext>
            </p:extLst>
          </p:nvPr>
        </p:nvGraphicFramePr>
        <p:xfrm>
          <a:off x="746726" y="1177748"/>
          <a:ext cx="8834529" cy="2053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6" imgW="5294248" imgH="1229683" progId="ChemDraw_x64.Document.6.0">
                  <p:embed/>
                </p:oleObj>
              </mc:Choice>
              <mc:Fallback>
                <p:oleObj name="CS ChemDraw 64-bit Drawing" r:id="rId6" imgW="5294248" imgH="1229683" progId="ChemDraw_x64.Document.6.0">
                  <p:embed/>
                  <p:pic>
                    <p:nvPicPr>
                      <p:cNvPr id="32" name="Object 31">
                        <a:extLst>
                          <a:ext uri="{FF2B5EF4-FFF2-40B4-BE49-F238E27FC236}">
                            <a16:creationId xmlns:a16="http://schemas.microsoft.com/office/drawing/2014/main" id="{1F3D252B-4DE3-584F-98B8-609AF4C00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46726" y="1177748"/>
                        <a:ext cx="8834529" cy="20530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65556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4E92D-AE70-CD7E-9A06-A9BB571D1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37EC53-D686-283B-ED79-667D68755A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7421" y="378548"/>
            <a:ext cx="10817157" cy="476069"/>
          </a:xfrm>
        </p:spPr>
        <p:txBody>
          <a:bodyPr>
            <a:normAutofit fontScale="90000"/>
          </a:bodyPr>
          <a:lstStyle/>
          <a:p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Preparation of Paracetamol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2AC9BC-4962-5C6E-D1F4-770DA2814511}"/>
              </a:ext>
            </a:extLst>
          </p:cNvPr>
          <p:cNvSpPr/>
          <p:nvPr/>
        </p:nvSpPr>
        <p:spPr>
          <a:xfrm>
            <a:off x="687421" y="898804"/>
            <a:ext cx="10817156" cy="39066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4C1835B-4221-AC46-F6B0-A4FC1889B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366600"/>
              </p:ext>
            </p:extLst>
          </p:nvPr>
        </p:nvGraphicFramePr>
        <p:xfrm>
          <a:off x="691445" y="6368641"/>
          <a:ext cx="10822887" cy="978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8487">
                  <a:extLst>
                    <a:ext uri="{9D8B030D-6E8A-4147-A177-3AD203B41FA5}">
                      <a16:colId xmlns:a16="http://schemas.microsoft.com/office/drawing/2014/main" val="3774288868"/>
                    </a:ext>
                  </a:extLst>
                </a:gridCol>
                <a:gridCol w="4327200">
                  <a:extLst>
                    <a:ext uri="{9D8B030D-6E8A-4147-A177-3AD203B41FA5}">
                      <a16:colId xmlns:a16="http://schemas.microsoft.com/office/drawing/2014/main" val="4041270877"/>
                    </a:ext>
                  </a:extLst>
                </a:gridCol>
                <a:gridCol w="4327200">
                  <a:extLst>
                    <a:ext uri="{9D8B030D-6E8A-4147-A177-3AD203B41FA5}">
                      <a16:colId xmlns:a16="http://schemas.microsoft.com/office/drawing/2014/main" val="544143736"/>
                    </a:ext>
                  </a:extLst>
                </a:gridCol>
              </a:tblGrid>
              <a:tr h="406999">
                <a:tc>
                  <a:txBody>
                    <a:bodyPr/>
                    <a:lstStyle/>
                    <a:p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Estimated Energy Usage (Hot Plates)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Estimated Cost of Reagents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815991"/>
                  </a:ext>
                </a:extLst>
              </a:tr>
              <a:tr h="571661"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 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0.037 kWh</a:t>
                      </a:r>
                      <a:endParaRPr lang="en-GB" sz="1800" dirty="0">
                        <a:highlight>
                          <a:srgbClr val="FFFF0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£1.22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595353"/>
                  </a:ext>
                </a:extLst>
              </a:tr>
            </a:tbl>
          </a:graphicData>
        </a:graphic>
      </p:graphicFrame>
      <p:sp>
        <p:nvSpPr>
          <p:cNvPr id="14" name="Subtitle 13">
            <a:extLst>
              <a:ext uri="{FF2B5EF4-FFF2-40B4-BE49-F238E27FC236}">
                <a16:creationId xmlns:a16="http://schemas.microsoft.com/office/drawing/2014/main" id="{726EA030-7927-6EED-29C1-4E6E3871BF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7668" y="5872727"/>
            <a:ext cx="10825212" cy="673569"/>
          </a:xfrm>
        </p:spPr>
        <p:txBody>
          <a:bodyPr>
            <a:noAutofit/>
          </a:bodyPr>
          <a:lstStyle/>
          <a:p>
            <a:pPr algn="just"/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Student X is representative of a student who achieved an average yield in this experiment.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916F72F-DABE-F485-A839-5947A218D1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876934"/>
              </p:ext>
            </p:extLst>
          </p:nvPr>
        </p:nvGraphicFramePr>
        <p:xfrm>
          <a:off x="1008500" y="3604260"/>
          <a:ext cx="10175000" cy="1112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000">
                  <a:extLst>
                    <a:ext uri="{9D8B030D-6E8A-4147-A177-3AD203B41FA5}">
                      <a16:colId xmlns:a16="http://schemas.microsoft.com/office/drawing/2014/main" val="1019814480"/>
                    </a:ext>
                  </a:extLst>
                </a:gridCol>
                <a:gridCol w="2035000">
                  <a:extLst>
                    <a:ext uri="{9D8B030D-6E8A-4147-A177-3AD203B41FA5}">
                      <a16:colId xmlns:a16="http://schemas.microsoft.com/office/drawing/2014/main" val="2238088619"/>
                    </a:ext>
                  </a:extLst>
                </a:gridCol>
                <a:gridCol w="2035000">
                  <a:extLst>
                    <a:ext uri="{9D8B030D-6E8A-4147-A177-3AD203B41FA5}">
                      <a16:colId xmlns:a16="http://schemas.microsoft.com/office/drawing/2014/main" val="1067779865"/>
                    </a:ext>
                  </a:extLst>
                </a:gridCol>
                <a:gridCol w="2035000">
                  <a:extLst>
                    <a:ext uri="{9D8B030D-6E8A-4147-A177-3AD203B41FA5}">
                      <a16:colId xmlns:a16="http://schemas.microsoft.com/office/drawing/2014/main" val="3236657354"/>
                    </a:ext>
                  </a:extLst>
                </a:gridCol>
                <a:gridCol w="2035000">
                  <a:extLst>
                    <a:ext uri="{9D8B030D-6E8A-4147-A177-3AD203B41FA5}">
                      <a16:colId xmlns:a16="http://schemas.microsoft.com/office/drawing/2014/main" val="2549884812"/>
                    </a:ext>
                  </a:extLst>
                </a:gridCol>
              </a:tblGrid>
              <a:tr h="707785"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Atom Efficiency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Percentage Yield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E-Factor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Reaction Mass Efficiency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 Mass Intensity (PMI)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86160"/>
                  </a:ext>
                </a:extLst>
              </a:tr>
              <a:tr h="404449"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72 %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862815"/>
                  </a:ext>
                </a:extLst>
              </a:tr>
            </a:tbl>
          </a:graphicData>
        </a:graphic>
      </p:graphicFrame>
      <p:sp>
        <p:nvSpPr>
          <p:cNvPr id="48" name="TextBox 47">
            <a:extLst>
              <a:ext uri="{FF2B5EF4-FFF2-40B4-BE49-F238E27FC236}">
                <a16:creationId xmlns:a16="http://schemas.microsoft.com/office/drawing/2014/main" id="{D32290B3-934E-5B5F-9BBF-2B2D103FBC8B}"/>
              </a:ext>
            </a:extLst>
          </p:cNvPr>
          <p:cNvSpPr txBox="1"/>
          <p:nvPr/>
        </p:nvSpPr>
        <p:spPr>
          <a:xfrm>
            <a:off x="782483" y="11090270"/>
            <a:ext cx="5126965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Shows how E-factor and percentage yield are related, and how a percentage yield of 30 % or higher results in a ‘yellow’ E-factor. 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26408A-1148-22BD-29A6-4289B537E876}"/>
              </a:ext>
            </a:extLst>
          </p:cNvPr>
          <p:cNvSpPr/>
          <p:nvPr/>
        </p:nvSpPr>
        <p:spPr>
          <a:xfrm>
            <a:off x="679365" y="7532514"/>
            <a:ext cx="5329631" cy="5185151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3D6C517-9DB7-5102-8E9B-409D8CA3D38F}"/>
              </a:ext>
            </a:extLst>
          </p:cNvPr>
          <p:cNvSpPr/>
          <p:nvPr/>
        </p:nvSpPr>
        <p:spPr>
          <a:xfrm>
            <a:off x="6166890" y="7532514"/>
            <a:ext cx="5329631" cy="5185151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1" name="Table 60">
                <a:extLst>
                  <a:ext uri="{FF2B5EF4-FFF2-40B4-BE49-F238E27FC236}">
                    <a16:creationId xmlns:a16="http://schemas.microsoft.com/office/drawing/2014/main" id="{2440A4E0-5CF4-0E4C-A0A0-2164AD926BC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3395" y="12849743"/>
              <a:ext cx="10808355" cy="29874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2421">
                      <a:extLst>
                        <a:ext uri="{9D8B030D-6E8A-4147-A177-3AD203B41FA5}">
                          <a16:colId xmlns:a16="http://schemas.microsoft.com/office/drawing/2014/main" val="2212660851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3390711754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918066876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183707299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1434114583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081822805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107851083"/>
                        </a:ext>
                      </a:extLst>
                    </a:gridCol>
                  </a:tblGrid>
                  <a:tr h="691020">
                    <a:tc>
                      <a:txBody>
                        <a:bodyPr/>
                        <a:lstStyle/>
                        <a:p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% based metrics</a:t>
                          </a:r>
                          <a:r>
                            <a:rPr lang="en-GB" sz="18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E-Factor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PMI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% Hazardous Waste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Mass of Waste/Student (g) 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Cost/student (£)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8747805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Green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(good)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31.24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1.56 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7449638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Yellow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(medium)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70 %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&lt;90 %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≤100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31.2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≤49.6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10 %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≤30 %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≤200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1.56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≤3.13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4861817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Red 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(poor)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&lt;70 %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&gt;49.59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&gt;30 %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200 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3.13 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3110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1" name="Table 60">
                <a:extLst>
                  <a:ext uri="{FF2B5EF4-FFF2-40B4-BE49-F238E27FC236}">
                    <a16:creationId xmlns:a16="http://schemas.microsoft.com/office/drawing/2014/main" id="{2440A4E0-5CF4-0E4C-A0A0-2164AD926BC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3395" y="12849743"/>
              <a:ext cx="10808355" cy="29874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2421">
                      <a:extLst>
                        <a:ext uri="{9D8B030D-6E8A-4147-A177-3AD203B41FA5}">
                          <a16:colId xmlns:a16="http://schemas.microsoft.com/office/drawing/2014/main" val="2212660851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3390711754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918066876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183707299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1434114583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081822805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10785108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% based metrics</a:t>
                          </a:r>
                          <a:r>
                            <a:rPr lang="en-GB" sz="18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E-Factor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PMI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% Hazardous Waste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Mass of Waste/Student (g) 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Cost/student (£)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8747805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Green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(good)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7481" t="-135965" r="-500763" b="-20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7481" t="-135965" r="-400763" b="-20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481" t="-135965" r="-300763" b="-20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7481" t="-135965" r="-200763" b="-20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7481" t="-135965" r="-100763" b="-20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77481" t="-135965" r="-763" b="-2061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7449638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Yellow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(medium)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7481" t="-238053" r="-500763" b="-10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7481" t="-238053" r="-400763" b="-10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481" t="-238053" r="-300763" b="-10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7481" t="-238053" r="-200763" b="-10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7481" t="-238053" r="-100763" b="-10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77481" t="-238053" r="-763" b="-1079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4861817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Red 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(poor)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7481" t="-335088" r="-500763" b="-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7481" t="-335088" r="-400763" b="-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481" t="-335088" r="-300763" b="-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7481" t="-335088" r="-200763" b="-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7481" t="-335088" r="-100763" b="-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77481" t="-335088" r="-763" b="-70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3110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5F177D1B-DD6A-054F-AC64-AC7F4A9FACED}"/>
              </a:ext>
            </a:extLst>
          </p:cNvPr>
          <p:cNvSpPr txBox="1"/>
          <p:nvPr/>
        </p:nvSpPr>
        <p:spPr>
          <a:xfrm>
            <a:off x="6306492" y="7506497"/>
            <a:ext cx="5103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Range of Percentage Yield Values in a Cohort Compared with E-Factor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2DED9F-D606-FF33-BC83-3081C50D115F}"/>
              </a:ext>
            </a:extLst>
          </p:cNvPr>
          <p:cNvSpPr txBox="1"/>
          <p:nvPr/>
        </p:nvSpPr>
        <p:spPr>
          <a:xfrm>
            <a:off x="1151877" y="7537843"/>
            <a:ext cx="4639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Percentage Yield and E-Factor for Y1O-002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423FC4C-C415-D0C1-CC90-A1F6C4E67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34512"/>
              </p:ext>
            </p:extLst>
          </p:nvPr>
        </p:nvGraphicFramePr>
        <p:xfrm>
          <a:off x="683394" y="4938419"/>
          <a:ext cx="10825207" cy="9190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88128">
                  <a:extLst>
                    <a:ext uri="{9D8B030D-6E8A-4147-A177-3AD203B41FA5}">
                      <a16:colId xmlns:a16="http://schemas.microsoft.com/office/drawing/2014/main" val="261477988"/>
                    </a:ext>
                  </a:extLst>
                </a:gridCol>
                <a:gridCol w="2471319">
                  <a:extLst>
                    <a:ext uri="{9D8B030D-6E8A-4147-A177-3AD203B41FA5}">
                      <a16:colId xmlns:a16="http://schemas.microsoft.com/office/drawing/2014/main" val="487422442"/>
                    </a:ext>
                  </a:extLst>
                </a:gridCol>
                <a:gridCol w="3068803">
                  <a:extLst>
                    <a:ext uri="{9D8B030D-6E8A-4147-A177-3AD203B41FA5}">
                      <a16:colId xmlns:a16="http://schemas.microsoft.com/office/drawing/2014/main" val="2472052662"/>
                    </a:ext>
                  </a:extLst>
                </a:gridCol>
                <a:gridCol w="3096957">
                  <a:extLst>
                    <a:ext uri="{9D8B030D-6E8A-4147-A177-3AD203B41FA5}">
                      <a16:colId xmlns:a16="http://schemas.microsoft.com/office/drawing/2014/main" val="2091609847"/>
                    </a:ext>
                  </a:extLst>
                </a:gridCol>
              </a:tblGrid>
              <a:tr h="3698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8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Mass of product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Mass of Waste Generated </a:t>
                      </a:r>
                      <a:endParaRPr lang="en-GB" sz="18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Mass of Hazardous Waste </a:t>
                      </a:r>
                      <a:endParaRPr lang="en-GB" sz="18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136211"/>
                  </a:ext>
                </a:extLst>
              </a:tr>
              <a:tr h="5491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 X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1.45 g 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81.8 g</a:t>
                      </a:r>
                      <a:endParaRPr lang="en-GB" sz="18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18.2 g </a:t>
                      </a:r>
                      <a:endParaRPr lang="en-GB" sz="18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344059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F315ADB2-FD31-85A3-138C-2FC432E56C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0" t="13724" r="12123" b="8648"/>
          <a:stretch>
            <a:fillRect/>
          </a:stretch>
        </p:blipFill>
        <p:spPr>
          <a:xfrm>
            <a:off x="782483" y="8119865"/>
            <a:ext cx="5126966" cy="28966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ADFF4E-4365-207C-4E0A-700C1E6160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6" t="14886" r="3240" b="8817"/>
          <a:stretch>
            <a:fillRect/>
          </a:stretch>
        </p:blipFill>
        <p:spPr bwMode="auto">
          <a:xfrm>
            <a:off x="6379203" y="8139320"/>
            <a:ext cx="4905003" cy="289687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3E54E55-27B0-4EC2-6633-65EB5880E3E9}"/>
              </a:ext>
            </a:extLst>
          </p:cNvPr>
          <p:cNvSpPr txBox="1"/>
          <p:nvPr/>
        </p:nvSpPr>
        <p:spPr>
          <a:xfrm>
            <a:off x="6263641" y="11084322"/>
            <a:ext cx="51458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Shows how more than 75 % of students will achieve a moderate E-factor, but it is not possible for students to get a good E-factor in this experiment. 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97CC8D-C8DE-4A79-BBEC-BBADD7332292}"/>
              </a:ext>
            </a:extLst>
          </p:cNvPr>
          <p:cNvSpPr txBox="1"/>
          <p:nvPr/>
        </p:nvSpPr>
        <p:spPr>
          <a:xfrm>
            <a:off x="9136786" y="976002"/>
            <a:ext cx="22993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Skills: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Büchner Filtration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Recrystallisation</a:t>
            </a: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AF9E3034-3D1F-9F88-7A33-72EE4F7D4C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2620522"/>
              </p:ext>
            </p:extLst>
          </p:nvPr>
        </p:nvGraphicFramePr>
        <p:xfrm>
          <a:off x="1008500" y="954544"/>
          <a:ext cx="8283325" cy="2696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6" imgW="4823139" imgH="1569412" progId="ChemDraw_x64.Document.6.0">
                  <p:embed/>
                </p:oleObj>
              </mc:Choice>
              <mc:Fallback>
                <p:oleObj name="CS ChemDraw 64-bit Drawing" r:id="rId6" imgW="4823139" imgH="1569412" progId="ChemDraw_x64.Document.6.0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AF9E3034-3D1F-9F88-7A33-72EE4F7D4C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08500" y="954544"/>
                        <a:ext cx="8283325" cy="26965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8D025180-DCA2-10CF-077D-77AEB76EE86F}"/>
              </a:ext>
            </a:extLst>
          </p:cNvPr>
          <p:cNvSpPr/>
          <p:nvPr/>
        </p:nvSpPr>
        <p:spPr>
          <a:xfrm>
            <a:off x="9136786" y="976002"/>
            <a:ext cx="2299363" cy="13197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823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886F6-2497-C6ED-EDEE-34EC1C3D9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813DF5-75BB-0FD6-E0B6-A1C63CCCE5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7421" y="378548"/>
            <a:ext cx="10817157" cy="476069"/>
          </a:xfrm>
        </p:spPr>
        <p:txBody>
          <a:bodyPr>
            <a:normAutofit fontScale="90000"/>
          </a:bodyPr>
          <a:lstStyle/>
          <a:p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Preparation of </a:t>
            </a:r>
            <a:r>
              <a:rPr lang="en-GB" sz="3200" dirty="0"/>
              <a:t>Diphenylmethanol</a:t>
            </a:r>
            <a:endParaRPr lang="en-GB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E23484-FC05-38D5-639B-202293F583AA}"/>
              </a:ext>
            </a:extLst>
          </p:cNvPr>
          <p:cNvSpPr/>
          <p:nvPr/>
        </p:nvSpPr>
        <p:spPr>
          <a:xfrm>
            <a:off x="687421" y="898804"/>
            <a:ext cx="10817156" cy="39066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2E0D3A0-9EA1-9C53-90B5-C955CF29EE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433340"/>
              </p:ext>
            </p:extLst>
          </p:nvPr>
        </p:nvGraphicFramePr>
        <p:xfrm>
          <a:off x="691445" y="6339010"/>
          <a:ext cx="10822887" cy="978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8487">
                  <a:extLst>
                    <a:ext uri="{9D8B030D-6E8A-4147-A177-3AD203B41FA5}">
                      <a16:colId xmlns:a16="http://schemas.microsoft.com/office/drawing/2014/main" val="3774288868"/>
                    </a:ext>
                  </a:extLst>
                </a:gridCol>
                <a:gridCol w="4327200">
                  <a:extLst>
                    <a:ext uri="{9D8B030D-6E8A-4147-A177-3AD203B41FA5}">
                      <a16:colId xmlns:a16="http://schemas.microsoft.com/office/drawing/2014/main" val="4041270877"/>
                    </a:ext>
                  </a:extLst>
                </a:gridCol>
                <a:gridCol w="4327200">
                  <a:extLst>
                    <a:ext uri="{9D8B030D-6E8A-4147-A177-3AD203B41FA5}">
                      <a16:colId xmlns:a16="http://schemas.microsoft.com/office/drawing/2014/main" val="544143736"/>
                    </a:ext>
                  </a:extLst>
                </a:gridCol>
              </a:tblGrid>
              <a:tr h="406999">
                <a:tc>
                  <a:txBody>
                    <a:bodyPr/>
                    <a:lstStyle/>
                    <a:p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Estimated Energy Usage (Hot Plates)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Estimated Cost of Reagents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815991"/>
                  </a:ext>
                </a:extLst>
              </a:tr>
              <a:tr h="571661"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 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0.003 kWh</a:t>
                      </a:r>
                      <a:endParaRPr lang="en-GB" sz="1800" dirty="0">
                        <a:highlight>
                          <a:srgbClr val="FFFF0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£2.24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595353"/>
                  </a:ext>
                </a:extLst>
              </a:tr>
            </a:tbl>
          </a:graphicData>
        </a:graphic>
      </p:graphicFrame>
      <p:sp>
        <p:nvSpPr>
          <p:cNvPr id="14" name="Subtitle 13">
            <a:extLst>
              <a:ext uri="{FF2B5EF4-FFF2-40B4-BE49-F238E27FC236}">
                <a16:creationId xmlns:a16="http://schemas.microsoft.com/office/drawing/2014/main" id="{68F709AD-7D14-E5F6-4292-4E5B01DD7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7668" y="5904660"/>
            <a:ext cx="10825212" cy="673569"/>
          </a:xfrm>
        </p:spPr>
        <p:txBody>
          <a:bodyPr>
            <a:noAutofit/>
          </a:bodyPr>
          <a:lstStyle/>
          <a:p>
            <a:pPr algn="just"/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Student X is representative of a student who achieved an average yield in this experiment.</a:t>
            </a:r>
          </a:p>
          <a:p>
            <a:pPr algn="just"/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ECAA24E-0504-60F7-9826-FB0D78033B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212678"/>
              </p:ext>
            </p:extLst>
          </p:nvPr>
        </p:nvGraphicFramePr>
        <p:xfrm>
          <a:off x="1008500" y="3604260"/>
          <a:ext cx="10175000" cy="1112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000">
                  <a:extLst>
                    <a:ext uri="{9D8B030D-6E8A-4147-A177-3AD203B41FA5}">
                      <a16:colId xmlns:a16="http://schemas.microsoft.com/office/drawing/2014/main" val="1019814480"/>
                    </a:ext>
                  </a:extLst>
                </a:gridCol>
                <a:gridCol w="2035000">
                  <a:extLst>
                    <a:ext uri="{9D8B030D-6E8A-4147-A177-3AD203B41FA5}">
                      <a16:colId xmlns:a16="http://schemas.microsoft.com/office/drawing/2014/main" val="2238088619"/>
                    </a:ext>
                  </a:extLst>
                </a:gridCol>
                <a:gridCol w="2035000">
                  <a:extLst>
                    <a:ext uri="{9D8B030D-6E8A-4147-A177-3AD203B41FA5}">
                      <a16:colId xmlns:a16="http://schemas.microsoft.com/office/drawing/2014/main" val="1067779865"/>
                    </a:ext>
                  </a:extLst>
                </a:gridCol>
                <a:gridCol w="2035000">
                  <a:extLst>
                    <a:ext uri="{9D8B030D-6E8A-4147-A177-3AD203B41FA5}">
                      <a16:colId xmlns:a16="http://schemas.microsoft.com/office/drawing/2014/main" val="3236657354"/>
                    </a:ext>
                  </a:extLst>
                </a:gridCol>
                <a:gridCol w="2035000">
                  <a:extLst>
                    <a:ext uri="{9D8B030D-6E8A-4147-A177-3AD203B41FA5}">
                      <a16:colId xmlns:a16="http://schemas.microsoft.com/office/drawing/2014/main" val="2549884812"/>
                    </a:ext>
                  </a:extLst>
                </a:gridCol>
              </a:tblGrid>
              <a:tr h="707785"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Atom Efficiency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Percentage Yield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E-Factor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Reaction Mass Efficiency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 Mass Intensity (PMI)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86160"/>
                  </a:ext>
                </a:extLst>
              </a:tr>
              <a:tr h="404449"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862815"/>
                  </a:ext>
                </a:extLst>
              </a:tr>
            </a:tbl>
          </a:graphicData>
        </a:graphic>
      </p:graphicFrame>
      <p:sp>
        <p:nvSpPr>
          <p:cNvPr id="48" name="TextBox 47">
            <a:extLst>
              <a:ext uri="{FF2B5EF4-FFF2-40B4-BE49-F238E27FC236}">
                <a16:creationId xmlns:a16="http://schemas.microsoft.com/office/drawing/2014/main" id="{20D9ADE7-B5AE-79B6-41F9-0959C1742BBF}"/>
              </a:ext>
            </a:extLst>
          </p:cNvPr>
          <p:cNvSpPr txBox="1"/>
          <p:nvPr/>
        </p:nvSpPr>
        <p:spPr>
          <a:xfrm>
            <a:off x="782483" y="11090270"/>
            <a:ext cx="5140693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Shows how E-factor and percentage yield are related, and how for any percentage yield, this experiment will have a ‘red’ E-factor as for each 1 g of product there is more than 100 g of waste.</a:t>
            </a:r>
          </a:p>
          <a:p>
            <a:pPr algn="just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0CE9BE1-9D6D-FE1D-CE13-4265EA2022EA}"/>
              </a:ext>
            </a:extLst>
          </p:cNvPr>
          <p:cNvSpPr/>
          <p:nvPr/>
        </p:nvSpPr>
        <p:spPr>
          <a:xfrm>
            <a:off x="679365" y="7532514"/>
            <a:ext cx="5329631" cy="5185151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729DD68-963B-F467-730F-7634454748D2}"/>
              </a:ext>
            </a:extLst>
          </p:cNvPr>
          <p:cNvSpPr/>
          <p:nvPr/>
        </p:nvSpPr>
        <p:spPr>
          <a:xfrm>
            <a:off x="6166890" y="7532514"/>
            <a:ext cx="5329631" cy="5185151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1" name="Table 60">
                <a:extLst>
                  <a:ext uri="{FF2B5EF4-FFF2-40B4-BE49-F238E27FC236}">
                    <a16:creationId xmlns:a16="http://schemas.microsoft.com/office/drawing/2014/main" id="{A739931F-AABC-CA0B-4754-7689816F87D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3395" y="12849743"/>
              <a:ext cx="10808355" cy="29874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2421">
                      <a:extLst>
                        <a:ext uri="{9D8B030D-6E8A-4147-A177-3AD203B41FA5}">
                          <a16:colId xmlns:a16="http://schemas.microsoft.com/office/drawing/2014/main" val="2212660851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3390711754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918066876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183707299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1434114583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081822805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107851083"/>
                        </a:ext>
                      </a:extLst>
                    </a:gridCol>
                  </a:tblGrid>
                  <a:tr h="691020">
                    <a:tc>
                      <a:txBody>
                        <a:bodyPr/>
                        <a:lstStyle/>
                        <a:p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% based metrics</a:t>
                          </a:r>
                          <a:r>
                            <a:rPr lang="en-GB" sz="18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E-Factor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PMI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% Hazardous Waste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Mass of Waste/Student (g) 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Cost/student (£)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8747805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Green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(good)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31.24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1.56 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7449638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Yellow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(medium)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70 %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&lt;90 %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≤100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31.2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≤49.6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10 %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≤30 %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≤200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1.56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≤3.13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4861817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Red 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(poor)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&lt;70 %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&gt;49.59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&gt;30 %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200 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3.13 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3110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1" name="Table 60">
                <a:extLst>
                  <a:ext uri="{FF2B5EF4-FFF2-40B4-BE49-F238E27FC236}">
                    <a16:creationId xmlns:a16="http://schemas.microsoft.com/office/drawing/2014/main" id="{A739931F-AABC-CA0B-4754-7689816F87D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3395" y="12849743"/>
              <a:ext cx="10808355" cy="29874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2421">
                      <a:extLst>
                        <a:ext uri="{9D8B030D-6E8A-4147-A177-3AD203B41FA5}">
                          <a16:colId xmlns:a16="http://schemas.microsoft.com/office/drawing/2014/main" val="2212660851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3390711754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918066876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183707299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1434114583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081822805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10785108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% based metrics</a:t>
                          </a:r>
                          <a:r>
                            <a:rPr lang="en-GB" sz="18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E-Factor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PMI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% Hazardous Waste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Mass of Waste/Student (g) 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Cost/student (£)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8747805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Green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(good)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7481" t="-135965" r="-500763" b="-20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7481" t="-135965" r="-400763" b="-20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481" t="-135965" r="-300763" b="-20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7481" t="-135965" r="-200763" b="-20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7481" t="-135965" r="-100763" b="-20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77481" t="-135965" r="-763" b="-2061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7449638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Yellow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(medium)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7481" t="-238053" r="-500763" b="-10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7481" t="-238053" r="-400763" b="-10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481" t="-238053" r="-300763" b="-10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7481" t="-238053" r="-200763" b="-10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7481" t="-238053" r="-100763" b="-10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77481" t="-238053" r="-763" b="-1079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4861817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Red 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(poor)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7481" t="-335088" r="-500763" b="-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7481" t="-335088" r="-400763" b="-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481" t="-335088" r="-300763" b="-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7481" t="-335088" r="-200763" b="-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7481" t="-335088" r="-100763" b="-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77481" t="-335088" r="-763" b="-70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3110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0651589B-3BEE-8EE9-E3E6-2F4AC06A0D44}"/>
              </a:ext>
            </a:extLst>
          </p:cNvPr>
          <p:cNvSpPr txBox="1"/>
          <p:nvPr/>
        </p:nvSpPr>
        <p:spPr>
          <a:xfrm>
            <a:off x="6306492" y="7506497"/>
            <a:ext cx="5103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Range of Percentage Yield Values in a Cohort Compared with E-Factor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8F812F-9CB3-9455-706B-5BF91CB46896}"/>
              </a:ext>
            </a:extLst>
          </p:cNvPr>
          <p:cNvSpPr txBox="1"/>
          <p:nvPr/>
        </p:nvSpPr>
        <p:spPr>
          <a:xfrm>
            <a:off x="1151877" y="7537843"/>
            <a:ext cx="4639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Percentage Yield and E-Factor for Y1O-003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13D0B05-C54D-F354-E8C1-918EA8453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658814"/>
              </p:ext>
            </p:extLst>
          </p:nvPr>
        </p:nvGraphicFramePr>
        <p:xfrm>
          <a:off x="683394" y="4959584"/>
          <a:ext cx="10825207" cy="9190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88128">
                  <a:extLst>
                    <a:ext uri="{9D8B030D-6E8A-4147-A177-3AD203B41FA5}">
                      <a16:colId xmlns:a16="http://schemas.microsoft.com/office/drawing/2014/main" val="261477988"/>
                    </a:ext>
                  </a:extLst>
                </a:gridCol>
                <a:gridCol w="2471319">
                  <a:extLst>
                    <a:ext uri="{9D8B030D-6E8A-4147-A177-3AD203B41FA5}">
                      <a16:colId xmlns:a16="http://schemas.microsoft.com/office/drawing/2014/main" val="487422442"/>
                    </a:ext>
                  </a:extLst>
                </a:gridCol>
                <a:gridCol w="3068803">
                  <a:extLst>
                    <a:ext uri="{9D8B030D-6E8A-4147-A177-3AD203B41FA5}">
                      <a16:colId xmlns:a16="http://schemas.microsoft.com/office/drawing/2014/main" val="2472052662"/>
                    </a:ext>
                  </a:extLst>
                </a:gridCol>
                <a:gridCol w="3096957">
                  <a:extLst>
                    <a:ext uri="{9D8B030D-6E8A-4147-A177-3AD203B41FA5}">
                      <a16:colId xmlns:a16="http://schemas.microsoft.com/office/drawing/2014/main" val="2091609847"/>
                    </a:ext>
                  </a:extLst>
                </a:gridCol>
              </a:tblGrid>
              <a:tr h="3698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8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Mass of product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Mass of Waste Generated </a:t>
                      </a:r>
                      <a:endParaRPr lang="en-GB" sz="18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Mass of Hazardous Waste </a:t>
                      </a:r>
                      <a:endParaRPr lang="en-GB" sz="18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136211"/>
                  </a:ext>
                </a:extLst>
              </a:tr>
              <a:tr h="5491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 X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0.493 g 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80.5 g</a:t>
                      </a:r>
                      <a:endParaRPr lang="en-GB" sz="18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37.1 g </a:t>
                      </a:r>
                      <a:endParaRPr lang="en-GB" sz="18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344059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69DCF229-FC4B-1B62-4129-E7AFDDEB3D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1" t="16191" r="12009" b="7464"/>
          <a:stretch>
            <a:fillRect/>
          </a:stretch>
        </p:blipFill>
        <p:spPr>
          <a:xfrm>
            <a:off x="782483" y="8111980"/>
            <a:ext cx="5140694" cy="27959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B42481-4F1F-10E1-6798-C638BE6B21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9" t="16782" r="1866" b="7607"/>
          <a:stretch>
            <a:fillRect/>
          </a:stretch>
        </p:blipFill>
        <p:spPr>
          <a:xfrm>
            <a:off x="6306492" y="8178844"/>
            <a:ext cx="5103025" cy="29489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4A08A83-05BE-A2ED-A4F7-9100C15DAE4C}"/>
              </a:ext>
            </a:extLst>
          </p:cNvPr>
          <p:cNvSpPr txBox="1"/>
          <p:nvPr/>
        </p:nvSpPr>
        <p:spPr>
          <a:xfrm>
            <a:off x="6306492" y="11127839"/>
            <a:ext cx="51030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Shows how it is only possible for students to achieve a poor E-factor from this experiment. Even a 100 % yield will result in a poor E-factor.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B40C09-EB69-A465-2C76-045A3EA69527}"/>
              </a:ext>
            </a:extLst>
          </p:cNvPr>
          <p:cNvSpPr txBox="1"/>
          <p:nvPr/>
        </p:nvSpPr>
        <p:spPr>
          <a:xfrm>
            <a:off x="9338336" y="929486"/>
            <a:ext cx="21651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Skills: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TLC to monitor a reaction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Büchner filtration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Recrystallisation</a:t>
            </a: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76F15D36-81F1-6E9E-F00B-A2A75ECDD0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300794"/>
              </p:ext>
            </p:extLst>
          </p:nvPr>
        </p:nvGraphicFramePr>
        <p:xfrm>
          <a:off x="782483" y="1025554"/>
          <a:ext cx="8556945" cy="2373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6" imgW="4486183" imgH="1244747" progId="ChemDraw_x64.Document.6.0">
                  <p:embed/>
                </p:oleObj>
              </mc:Choice>
              <mc:Fallback>
                <p:oleObj name="CS ChemDraw 64-bit Drawing" r:id="rId6" imgW="4486183" imgH="1244747" progId="ChemDraw_x64.Document.6.0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76F15D36-81F1-6E9E-F00B-A2A75ECDD0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82483" y="1025554"/>
                        <a:ext cx="8556945" cy="23739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5A6E4D37-5F3E-E8EC-22D6-FF4386B12139}"/>
              </a:ext>
            </a:extLst>
          </p:cNvPr>
          <p:cNvSpPr/>
          <p:nvPr/>
        </p:nvSpPr>
        <p:spPr>
          <a:xfrm>
            <a:off x="9337244" y="963873"/>
            <a:ext cx="2101649" cy="17297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6457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AEA34-8D9D-1613-B9FC-4D1A19DD7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B12B15-2DA9-4924-768A-D03263EC46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7421" y="378548"/>
            <a:ext cx="10817157" cy="476069"/>
          </a:xfrm>
        </p:spPr>
        <p:txBody>
          <a:bodyPr>
            <a:normAutofit fontScale="90000"/>
          </a:bodyPr>
          <a:lstStyle/>
          <a:p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Preparation of </a:t>
            </a:r>
            <a:r>
              <a:rPr lang="en-GB" sz="3200" dirty="0"/>
              <a:t>4-Nitroaniline </a:t>
            </a:r>
            <a:endParaRPr lang="en-GB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549B0F-637F-A363-527C-798ECF564F59}"/>
              </a:ext>
            </a:extLst>
          </p:cNvPr>
          <p:cNvSpPr/>
          <p:nvPr/>
        </p:nvSpPr>
        <p:spPr>
          <a:xfrm>
            <a:off x="687421" y="898804"/>
            <a:ext cx="10817156" cy="39066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EBA2A2D-55D1-8117-0585-EC323FDB7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136951"/>
              </p:ext>
            </p:extLst>
          </p:nvPr>
        </p:nvGraphicFramePr>
        <p:xfrm>
          <a:off x="691445" y="6339010"/>
          <a:ext cx="10822887" cy="978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8487">
                  <a:extLst>
                    <a:ext uri="{9D8B030D-6E8A-4147-A177-3AD203B41FA5}">
                      <a16:colId xmlns:a16="http://schemas.microsoft.com/office/drawing/2014/main" val="3774288868"/>
                    </a:ext>
                  </a:extLst>
                </a:gridCol>
                <a:gridCol w="4327200">
                  <a:extLst>
                    <a:ext uri="{9D8B030D-6E8A-4147-A177-3AD203B41FA5}">
                      <a16:colId xmlns:a16="http://schemas.microsoft.com/office/drawing/2014/main" val="4041270877"/>
                    </a:ext>
                  </a:extLst>
                </a:gridCol>
                <a:gridCol w="4327200">
                  <a:extLst>
                    <a:ext uri="{9D8B030D-6E8A-4147-A177-3AD203B41FA5}">
                      <a16:colId xmlns:a16="http://schemas.microsoft.com/office/drawing/2014/main" val="544143736"/>
                    </a:ext>
                  </a:extLst>
                </a:gridCol>
              </a:tblGrid>
              <a:tr h="406999">
                <a:tc>
                  <a:txBody>
                    <a:bodyPr/>
                    <a:lstStyle/>
                    <a:p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Estimated Energy Usage (Hot Plates)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Estimated Cost of Reagents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815991"/>
                  </a:ext>
                </a:extLst>
              </a:tr>
              <a:tr h="571661"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 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0.0717 kWh</a:t>
                      </a:r>
                      <a:endParaRPr lang="en-GB" sz="1800" dirty="0">
                        <a:highlight>
                          <a:srgbClr val="FFFF0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£6.98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595353"/>
                  </a:ext>
                </a:extLst>
              </a:tr>
            </a:tbl>
          </a:graphicData>
        </a:graphic>
      </p:graphicFrame>
      <p:sp>
        <p:nvSpPr>
          <p:cNvPr id="14" name="Subtitle 13">
            <a:extLst>
              <a:ext uri="{FF2B5EF4-FFF2-40B4-BE49-F238E27FC236}">
                <a16:creationId xmlns:a16="http://schemas.microsoft.com/office/drawing/2014/main" id="{66616487-D7F0-9BCD-912F-CED71720D9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7668" y="5893892"/>
            <a:ext cx="10825212" cy="673569"/>
          </a:xfrm>
        </p:spPr>
        <p:txBody>
          <a:bodyPr>
            <a:noAutofit/>
          </a:bodyPr>
          <a:lstStyle/>
          <a:p>
            <a:pPr algn="just"/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Student X is representative of a student who achieved an average yield in this experiment.</a:t>
            </a:r>
          </a:p>
          <a:p>
            <a:pPr algn="just"/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2990175-8F87-A4F0-CCC3-0221E0D36F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123086"/>
              </p:ext>
            </p:extLst>
          </p:nvPr>
        </p:nvGraphicFramePr>
        <p:xfrm>
          <a:off x="1008500" y="3604260"/>
          <a:ext cx="10175000" cy="1112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000">
                  <a:extLst>
                    <a:ext uri="{9D8B030D-6E8A-4147-A177-3AD203B41FA5}">
                      <a16:colId xmlns:a16="http://schemas.microsoft.com/office/drawing/2014/main" val="1019814480"/>
                    </a:ext>
                  </a:extLst>
                </a:gridCol>
                <a:gridCol w="2035000">
                  <a:extLst>
                    <a:ext uri="{9D8B030D-6E8A-4147-A177-3AD203B41FA5}">
                      <a16:colId xmlns:a16="http://schemas.microsoft.com/office/drawing/2014/main" val="2238088619"/>
                    </a:ext>
                  </a:extLst>
                </a:gridCol>
                <a:gridCol w="2035000">
                  <a:extLst>
                    <a:ext uri="{9D8B030D-6E8A-4147-A177-3AD203B41FA5}">
                      <a16:colId xmlns:a16="http://schemas.microsoft.com/office/drawing/2014/main" val="1067779865"/>
                    </a:ext>
                  </a:extLst>
                </a:gridCol>
                <a:gridCol w="2035000">
                  <a:extLst>
                    <a:ext uri="{9D8B030D-6E8A-4147-A177-3AD203B41FA5}">
                      <a16:colId xmlns:a16="http://schemas.microsoft.com/office/drawing/2014/main" val="3236657354"/>
                    </a:ext>
                  </a:extLst>
                </a:gridCol>
                <a:gridCol w="2035000">
                  <a:extLst>
                    <a:ext uri="{9D8B030D-6E8A-4147-A177-3AD203B41FA5}">
                      <a16:colId xmlns:a16="http://schemas.microsoft.com/office/drawing/2014/main" val="2549884812"/>
                    </a:ext>
                  </a:extLst>
                </a:gridCol>
              </a:tblGrid>
              <a:tr h="707785"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Atom Efficiency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Percentage Yield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E-Factor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Reaction Mass Efficiency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 Mass Intensity (PMI)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86160"/>
                  </a:ext>
                </a:extLst>
              </a:tr>
              <a:tr h="404449"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862815"/>
                  </a:ext>
                </a:extLst>
              </a:tr>
            </a:tbl>
          </a:graphicData>
        </a:graphic>
      </p:graphicFrame>
      <p:sp>
        <p:nvSpPr>
          <p:cNvPr id="48" name="TextBox 47">
            <a:extLst>
              <a:ext uri="{FF2B5EF4-FFF2-40B4-BE49-F238E27FC236}">
                <a16:creationId xmlns:a16="http://schemas.microsoft.com/office/drawing/2014/main" id="{5159A069-CEFF-E2C2-6D78-7A0875124A22}"/>
              </a:ext>
            </a:extLst>
          </p:cNvPr>
          <p:cNvSpPr txBox="1"/>
          <p:nvPr/>
        </p:nvSpPr>
        <p:spPr>
          <a:xfrm>
            <a:off x="782483" y="11090270"/>
            <a:ext cx="5079302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Shows how E-factor and percentage yield are related, and how for a yield of 90 % or higher results in a ‘yellow’ E-factor.</a:t>
            </a:r>
          </a:p>
          <a:p>
            <a:pPr algn="just"/>
            <a:endParaRPr lang="en-GB" dirty="0"/>
          </a:p>
          <a:p>
            <a:pPr algn="just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1C77218-CE46-C974-12A3-824B5BB3E26E}"/>
              </a:ext>
            </a:extLst>
          </p:cNvPr>
          <p:cNvSpPr/>
          <p:nvPr/>
        </p:nvSpPr>
        <p:spPr>
          <a:xfrm>
            <a:off x="679365" y="7532514"/>
            <a:ext cx="5329631" cy="5185151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22FFB8-5BA6-75BB-16A5-7E6E56074531}"/>
              </a:ext>
            </a:extLst>
          </p:cNvPr>
          <p:cNvSpPr/>
          <p:nvPr/>
        </p:nvSpPr>
        <p:spPr>
          <a:xfrm>
            <a:off x="6166890" y="7532514"/>
            <a:ext cx="5329631" cy="5185151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1" name="Table 60">
                <a:extLst>
                  <a:ext uri="{FF2B5EF4-FFF2-40B4-BE49-F238E27FC236}">
                    <a16:creationId xmlns:a16="http://schemas.microsoft.com/office/drawing/2014/main" id="{9C36406F-9521-8E0F-5B38-48818EB079C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3395" y="12849743"/>
              <a:ext cx="10808355" cy="29874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2421">
                      <a:extLst>
                        <a:ext uri="{9D8B030D-6E8A-4147-A177-3AD203B41FA5}">
                          <a16:colId xmlns:a16="http://schemas.microsoft.com/office/drawing/2014/main" val="2212660851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3390711754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918066876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183707299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1434114583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081822805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107851083"/>
                        </a:ext>
                      </a:extLst>
                    </a:gridCol>
                  </a:tblGrid>
                  <a:tr h="691020">
                    <a:tc>
                      <a:txBody>
                        <a:bodyPr/>
                        <a:lstStyle/>
                        <a:p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% based metrics</a:t>
                          </a:r>
                          <a:r>
                            <a:rPr lang="en-GB" sz="18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E-Factor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PMI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% Hazardous Waste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Mass of Waste/Student (g) 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Cost/student (£)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8747805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Green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(good)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31.24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1.56 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7449638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Yellow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(medium)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70 %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&lt;90 %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≤100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31.2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≤49.6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10 %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≤30 %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≤200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1.56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≤3.13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4861817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Red 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(poor)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&lt;70 %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&gt;49.59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&gt;30 %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200 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3.13 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3110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1" name="Table 60">
                <a:extLst>
                  <a:ext uri="{FF2B5EF4-FFF2-40B4-BE49-F238E27FC236}">
                    <a16:creationId xmlns:a16="http://schemas.microsoft.com/office/drawing/2014/main" id="{9C36406F-9521-8E0F-5B38-48818EB079C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3395" y="12849743"/>
              <a:ext cx="10808355" cy="29874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2421">
                      <a:extLst>
                        <a:ext uri="{9D8B030D-6E8A-4147-A177-3AD203B41FA5}">
                          <a16:colId xmlns:a16="http://schemas.microsoft.com/office/drawing/2014/main" val="2212660851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3390711754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918066876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183707299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1434114583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081822805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10785108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% based metrics</a:t>
                          </a:r>
                          <a:r>
                            <a:rPr lang="en-GB" sz="18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E-Factor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PMI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% Hazardous Waste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Mass of Waste/Student (g) 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Cost/student (£)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8747805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Green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(good)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7481" t="-135965" r="-500763" b="-20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7481" t="-135965" r="-400763" b="-20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481" t="-135965" r="-300763" b="-20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7481" t="-135965" r="-200763" b="-20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7481" t="-135965" r="-100763" b="-20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77481" t="-135965" r="-763" b="-2061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7449638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Yellow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(medium)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7481" t="-238053" r="-500763" b="-10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7481" t="-238053" r="-400763" b="-10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481" t="-238053" r="-300763" b="-10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7481" t="-238053" r="-200763" b="-10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7481" t="-238053" r="-100763" b="-10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77481" t="-238053" r="-763" b="-1079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4861817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Red 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(poor)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7481" t="-335088" r="-500763" b="-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7481" t="-335088" r="-400763" b="-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481" t="-335088" r="-300763" b="-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7481" t="-335088" r="-200763" b="-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7481" t="-335088" r="-100763" b="-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77481" t="-335088" r="-763" b="-70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3110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A5E2FB21-689A-3465-39C7-EF654C41C646}"/>
              </a:ext>
            </a:extLst>
          </p:cNvPr>
          <p:cNvSpPr txBox="1"/>
          <p:nvPr/>
        </p:nvSpPr>
        <p:spPr>
          <a:xfrm>
            <a:off x="6306492" y="7506497"/>
            <a:ext cx="5103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Range of Percentage Yield Values in a Cohort Compared with E-Factor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7D6E8C-D0D8-BACF-3558-2AB4EDDA8D90}"/>
              </a:ext>
            </a:extLst>
          </p:cNvPr>
          <p:cNvSpPr txBox="1"/>
          <p:nvPr/>
        </p:nvSpPr>
        <p:spPr>
          <a:xfrm>
            <a:off x="1151877" y="7537843"/>
            <a:ext cx="4639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Percentage Yield and E-Factor for Y1O-004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18A950-0F11-1AFE-85B7-3F99E6814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467230"/>
              </p:ext>
            </p:extLst>
          </p:nvPr>
        </p:nvGraphicFramePr>
        <p:xfrm>
          <a:off x="683394" y="4959584"/>
          <a:ext cx="10825207" cy="9190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88128">
                  <a:extLst>
                    <a:ext uri="{9D8B030D-6E8A-4147-A177-3AD203B41FA5}">
                      <a16:colId xmlns:a16="http://schemas.microsoft.com/office/drawing/2014/main" val="261477988"/>
                    </a:ext>
                  </a:extLst>
                </a:gridCol>
                <a:gridCol w="2471319">
                  <a:extLst>
                    <a:ext uri="{9D8B030D-6E8A-4147-A177-3AD203B41FA5}">
                      <a16:colId xmlns:a16="http://schemas.microsoft.com/office/drawing/2014/main" val="487422442"/>
                    </a:ext>
                  </a:extLst>
                </a:gridCol>
                <a:gridCol w="3068803">
                  <a:extLst>
                    <a:ext uri="{9D8B030D-6E8A-4147-A177-3AD203B41FA5}">
                      <a16:colId xmlns:a16="http://schemas.microsoft.com/office/drawing/2014/main" val="2472052662"/>
                    </a:ext>
                  </a:extLst>
                </a:gridCol>
                <a:gridCol w="3096957">
                  <a:extLst>
                    <a:ext uri="{9D8B030D-6E8A-4147-A177-3AD203B41FA5}">
                      <a16:colId xmlns:a16="http://schemas.microsoft.com/office/drawing/2014/main" val="2091609847"/>
                    </a:ext>
                  </a:extLst>
                </a:gridCol>
              </a:tblGrid>
              <a:tr h="3698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8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Mass of product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Mass of Waste Generated </a:t>
                      </a:r>
                      <a:endParaRPr lang="en-GB" sz="18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Mass of Hazardous Waste </a:t>
                      </a:r>
                      <a:endParaRPr lang="en-GB" sz="18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136211"/>
                  </a:ext>
                </a:extLst>
              </a:tr>
              <a:tr h="5491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 X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1.56 g 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204 g</a:t>
                      </a:r>
                      <a:endParaRPr lang="en-GB" sz="18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55.1 g </a:t>
                      </a:r>
                      <a:endParaRPr lang="en-GB" sz="18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344059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6577456-81AB-A21E-1F73-75B7C8EDF2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3" t="15570" r="11964" b="7413"/>
          <a:stretch>
            <a:fillRect/>
          </a:stretch>
        </p:blipFill>
        <p:spPr>
          <a:xfrm>
            <a:off x="746279" y="8152828"/>
            <a:ext cx="5115506" cy="28404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933921-8D50-3BE6-8A19-C239342B14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4" t="16182" r="2534" b="7700"/>
          <a:stretch>
            <a:fillRect/>
          </a:stretch>
        </p:blipFill>
        <p:spPr>
          <a:xfrm>
            <a:off x="6264120" y="8152828"/>
            <a:ext cx="5145397" cy="29956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A6417AF-D417-5864-1910-1968F23DFE95}"/>
              </a:ext>
            </a:extLst>
          </p:cNvPr>
          <p:cNvSpPr txBox="1"/>
          <p:nvPr/>
        </p:nvSpPr>
        <p:spPr>
          <a:xfrm>
            <a:off x="6264120" y="11090270"/>
            <a:ext cx="51030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Shows how more than 75 % of students will achieve a poor E-factor, with only the highest yielding students achieving a moderate E-factor.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69CDBB-6D1F-0DCA-C7BC-01490E44B167}"/>
              </a:ext>
            </a:extLst>
          </p:cNvPr>
          <p:cNvSpPr txBox="1"/>
          <p:nvPr/>
        </p:nvSpPr>
        <p:spPr>
          <a:xfrm>
            <a:off x="9349183" y="969495"/>
            <a:ext cx="21651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Skills: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Reflux Reaction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Büchner Filtration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Recrystallisation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A1D5F7-AA0A-D356-E01B-283947481EC6}"/>
              </a:ext>
            </a:extLst>
          </p:cNvPr>
          <p:cNvSpPr/>
          <p:nvPr/>
        </p:nvSpPr>
        <p:spPr>
          <a:xfrm>
            <a:off x="9334500" y="976002"/>
            <a:ext cx="2101649" cy="1679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A33FEE6B-0305-ADDD-14D3-593E1778FC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7380440"/>
              </p:ext>
            </p:extLst>
          </p:nvPr>
        </p:nvGraphicFramePr>
        <p:xfrm>
          <a:off x="1029709" y="880635"/>
          <a:ext cx="7943418" cy="2807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6" imgW="4230506" imgH="1494885" progId="ChemDraw_x64.Document.6.0">
                  <p:embed/>
                </p:oleObj>
              </mc:Choice>
              <mc:Fallback>
                <p:oleObj name="CS ChemDraw 64-bit Drawing" r:id="rId6" imgW="4230506" imgH="1494885" progId="ChemDraw_x64.Document.6.0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A33FEE6B-0305-ADDD-14D3-593E1778FC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29709" y="880635"/>
                        <a:ext cx="7943418" cy="28077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6379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AEA34-8D9D-1613-B9FC-4D1A19DD7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B12B15-2DA9-4924-768A-D03263EC46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7421" y="378548"/>
            <a:ext cx="10817157" cy="476069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Oxidation of 9-Fluorenol </a:t>
            </a:r>
            <a:endParaRPr lang="en-GB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549B0F-637F-A363-527C-798ECF564F59}"/>
              </a:ext>
            </a:extLst>
          </p:cNvPr>
          <p:cNvSpPr/>
          <p:nvPr/>
        </p:nvSpPr>
        <p:spPr>
          <a:xfrm>
            <a:off x="687421" y="898804"/>
            <a:ext cx="10817156" cy="39066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EBA2A2D-55D1-8117-0585-EC323FDB7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571416"/>
              </p:ext>
            </p:extLst>
          </p:nvPr>
        </p:nvGraphicFramePr>
        <p:xfrm>
          <a:off x="691445" y="6243760"/>
          <a:ext cx="10817156" cy="1211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355">
                  <a:extLst>
                    <a:ext uri="{9D8B030D-6E8A-4147-A177-3AD203B41FA5}">
                      <a16:colId xmlns:a16="http://schemas.microsoft.com/office/drawing/2014/main" val="3774288868"/>
                    </a:ext>
                  </a:extLst>
                </a:gridCol>
                <a:gridCol w="5494867">
                  <a:extLst>
                    <a:ext uri="{9D8B030D-6E8A-4147-A177-3AD203B41FA5}">
                      <a16:colId xmlns:a16="http://schemas.microsoft.com/office/drawing/2014/main" val="4041270877"/>
                    </a:ext>
                  </a:extLst>
                </a:gridCol>
                <a:gridCol w="4057934">
                  <a:extLst>
                    <a:ext uri="{9D8B030D-6E8A-4147-A177-3AD203B41FA5}">
                      <a16:colId xmlns:a16="http://schemas.microsoft.com/office/drawing/2014/main" val="544143736"/>
                    </a:ext>
                  </a:extLst>
                </a:gridCol>
              </a:tblGrid>
              <a:tr h="406999">
                <a:tc>
                  <a:txBody>
                    <a:bodyPr/>
                    <a:lstStyle/>
                    <a:p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Estimated Energy Usage (Hot Plate, Chiller, Rotary Evaporator)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Estimated Cost of Reagents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815991"/>
                  </a:ext>
                </a:extLst>
              </a:tr>
              <a:tr h="571661"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 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0.304 kWh</a:t>
                      </a:r>
                      <a:endParaRPr lang="en-GB" sz="1800" dirty="0">
                        <a:highlight>
                          <a:srgbClr val="FFFF0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£7.01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595353"/>
                  </a:ext>
                </a:extLst>
              </a:tr>
            </a:tbl>
          </a:graphicData>
        </a:graphic>
      </p:graphicFrame>
      <p:sp>
        <p:nvSpPr>
          <p:cNvPr id="14" name="Subtitle 13">
            <a:extLst>
              <a:ext uri="{FF2B5EF4-FFF2-40B4-BE49-F238E27FC236}">
                <a16:creationId xmlns:a16="http://schemas.microsoft.com/office/drawing/2014/main" id="{66616487-D7F0-9BCD-912F-CED71720D9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7421" y="5936176"/>
            <a:ext cx="10825212" cy="673569"/>
          </a:xfrm>
        </p:spPr>
        <p:txBody>
          <a:bodyPr>
            <a:noAutofit/>
          </a:bodyPr>
          <a:lstStyle/>
          <a:p>
            <a:pPr algn="just"/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Student X is representative of a student who achieved an average yield in this experiment.</a:t>
            </a:r>
          </a:p>
          <a:p>
            <a:pPr algn="just"/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2990175-8F87-A4F0-CCC3-0221E0D36F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155322"/>
              </p:ext>
            </p:extLst>
          </p:nvPr>
        </p:nvGraphicFramePr>
        <p:xfrm>
          <a:off x="1008500" y="3604260"/>
          <a:ext cx="10175000" cy="1112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000">
                  <a:extLst>
                    <a:ext uri="{9D8B030D-6E8A-4147-A177-3AD203B41FA5}">
                      <a16:colId xmlns:a16="http://schemas.microsoft.com/office/drawing/2014/main" val="1019814480"/>
                    </a:ext>
                  </a:extLst>
                </a:gridCol>
                <a:gridCol w="2035000">
                  <a:extLst>
                    <a:ext uri="{9D8B030D-6E8A-4147-A177-3AD203B41FA5}">
                      <a16:colId xmlns:a16="http://schemas.microsoft.com/office/drawing/2014/main" val="2238088619"/>
                    </a:ext>
                  </a:extLst>
                </a:gridCol>
                <a:gridCol w="2035000">
                  <a:extLst>
                    <a:ext uri="{9D8B030D-6E8A-4147-A177-3AD203B41FA5}">
                      <a16:colId xmlns:a16="http://schemas.microsoft.com/office/drawing/2014/main" val="1067779865"/>
                    </a:ext>
                  </a:extLst>
                </a:gridCol>
                <a:gridCol w="2035000">
                  <a:extLst>
                    <a:ext uri="{9D8B030D-6E8A-4147-A177-3AD203B41FA5}">
                      <a16:colId xmlns:a16="http://schemas.microsoft.com/office/drawing/2014/main" val="3236657354"/>
                    </a:ext>
                  </a:extLst>
                </a:gridCol>
                <a:gridCol w="2035000">
                  <a:extLst>
                    <a:ext uri="{9D8B030D-6E8A-4147-A177-3AD203B41FA5}">
                      <a16:colId xmlns:a16="http://schemas.microsoft.com/office/drawing/2014/main" val="2549884812"/>
                    </a:ext>
                  </a:extLst>
                </a:gridCol>
              </a:tblGrid>
              <a:tr h="707785"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Atom Efficiency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Percentage Yield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E-Factor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Reaction Mass Efficiency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 Mass Intensity (PMI)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86160"/>
                  </a:ext>
                </a:extLst>
              </a:tr>
              <a:tr h="404449"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862815"/>
                  </a:ext>
                </a:extLst>
              </a:tr>
            </a:tbl>
          </a:graphicData>
        </a:graphic>
      </p:graphicFrame>
      <p:sp>
        <p:nvSpPr>
          <p:cNvPr id="48" name="TextBox 47">
            <a:extLst>
              <a:ext uri="{FF2B5EF4-FFF2-40B4-BE49-F238E27FC236}">
                <a16:creationId xmlns:a16="http://schemas.microsoft.com/office/drawing/2014/main" id="{5159A069-CEFF-E2C2-6D78-7A0875124A22}"/>
              </a:ext>
            </a:extLst>
          </p:cNvPr>
          <p:cNvSpPr txBox="1"/>
          <p:nvPr/>
        </p:nvSpPr>
        <p:spPr>
          <a:xfrm>
            <a:off x="782482" y="11090270"/>
            <a:ext cx="5135544" cy="20313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Shows how E-factor and percentage yield are related, and how for any percentage yield, this experiment will have a ‘red’ E-factor as for each 1 g of product there is more than 100 g of waste.</a:t>
            </a:r>
          </a:p>
          <a:p>
            <a:pPr algn="just"/>
            <a:endParaRPr lang="en-GB" dirty="0"/>
          </a:p>
          <a:p>
            <a:pPr algn="just"/>
            <a:endParaRPr lang="en-GB" dirty="0"/>
          </a:p>
          <a:p>
            <a:pPr algn="just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1C77218-CE46-C974-12A3-824B5BB3E26E}"/>
              </a:ext>
            </a:extLst>
          </p:cNvPr>
          <p:cNvSpPr/>
          <p:nvPr/>
        </p:nvSpPr>
        <p:spPr>
          <a:xfrm>
            <a:off x="679365" y="7532514"/>
            <a:ext cx="5329631" cy="5185151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22FFB8-5BA6-75BB-16A5-7E6E56074531}"/>
              </a:ext>
            </a:extLst>
          </p:cNvPr>
          <p:cNvSpPr/>
          <p:nvPr/>
        </p:nvSpPr>
        <p:spPr>
          <a:xfrm>
            <a:off x="6166890" y="7532514"/>
            <a:ext cx="5329631" cy="5185151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1" name="Table 60">
                <a:extLst>
                  <a:ext uri="{FF2B5EF4-FFF2-40B4-BE49-F238E27FC236}">
                    <a16:creationId xmlns:a16="http://schemas.microsoft.com/office/drawing/2014/main" id="{9C36406F-9521-8E0F-5B38-48818EB079C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3395" y="12849743"/>
              <a:ext cx="10808355" cy="29874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2421">
                      <a:extLst>
                        <a:ext uri="{9D8B030D-6E8A-4147-A177-3AD203B41FA5}">
                          <a16:colId xmlns:a16="http://schemas.microsoft.com/office/drawing/2014/main" val="2212660851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3390711754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918066876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183707299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1434114583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081822805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107851083"/>
                        </a:ext>
                      </a:extLst>
                    </a:gridCol>
                  </a:tblGrid>
                  <a:tr h="691020">
                    <a:tc>
                      <a:txBody>
                        <a:bodyPr/>
                        <a:lstStyle/>
                        <a:p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% based metrics</a:t>
                          </a:r>
                          <a:r>
                            <a:rPr lang="en-GB" sz="18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E-Factor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PMI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% Hazardous Waste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Mass of Waste/Student (g) 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Cost/student (£)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8747805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Green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(good)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31.24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1.56 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7449638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Yellow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(medium)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70 %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&lt;90 %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≤100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31.2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≤49.6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10 %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≤30 %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≤200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1.56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≤3.13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4861817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Red 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(poor)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&lt;70 %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&gt;49.59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&gt;30 %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200 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3.13 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3110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1" name="Table 60">
                <a:extLst>
                  <a:ext uri="{FF2B5EF4-FFF2-40B4-BE49-F238E27FC236}">
                    <a16:creationId xmlns:a16="http://schemas.microsoft.com/office/drawing/2014/main" id="{9C36406F-9521-8E0F-5B38-48818EB079C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3395" y="12849743"/>
              <a:ext cx="10808355" cy="29874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2421">
                      <a:extLst>
                        <a:ext uri="{9D8B030D-6E8A-4147-A177-3AD203B41FA5}">
                          <a16:colId xmlns:a16="http://schemas.microsoft.com/office/drawing/2014/main" val="2212660851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3390711754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918066876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183707299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1434114583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081822805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10785108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% based metrics</a:t>
                          </a:r>
                          <a:r>
                            <a:rPr lang="en-GB" sz="18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E-Factor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PMI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% Hazardous Waste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Mass of Waste/Student (g) 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Cost/student (£)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8747805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Green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(good)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7481" t="-135965" r="-500763" b="-20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7481" t="-135965" r="-400763" b="-20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481" t="-135965" r="-300763" b="-20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7481" t="-135965" r="-200763" b="-20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7481" t="-135965" r="-100763" b="-20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77481" t="-135965" r="-763" b="-2061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7449638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Yellow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(medium)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7481" t="-238053" r="-500763" b="-10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7481" t="-238053" r="-400763" b="-10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481" t="-238053" r="-300763" b="-10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7481" t="-238053" r="-200763" b="-10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7481" t="-238053" r="-100763" b="-10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77481" t="-238053" r="-763" b="-1079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4861817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Red 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(poor)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7481" t="-335088" r="-500763" b="-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7481" t="-335088" r="-400763" b="-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481" t="-335088" r="-300763" b="-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7481" t="-335088" r="-200763" b="-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7481" t="-335088" r="-100763" b="-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77481" t="-335088" r="-763" b="-70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3110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A5E2FB21-689A-3465-39C7-EF654C41C646}"/>
              </a:ext>
            </a:extLst>
          </p:cNvPr>
          <p:cNvSpPr txBox="1"/>
          <p:nvPr/>
        </p:nvSpPr>
        <p:spPr>
          <a:xfrm>
            <a:off x="6306492" y="7506497"/>
            <a:ext cx="5103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Range of Percentage Yield Values in a Cohort Compared with E-Factor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7D6E8C-D0D8-BACF-3558-2AB4EDDA8D90}"/>
              </a:ext>
            </a:extLst>
          </p:cNvPr>
          <p:cNvSpPr txBox="1"/>
          <p:nvPr/>
        </p:nvSpPr>
        <p:spPr>
          <a:xfrm>
            <a:off x="1151877" y="7537843"/>
            <a:ext cx="4639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Percentage Yield and E-Factor for Y1O-005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18A950-0F11-1AFE-85B7-3F99E6814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635217"/>
              </p:ext>
            </p:extLst>
          </p:nvPr>
        </p:nvGraphicFramePr>
        <p:xfrm>
          <a:off x="683394" y="4984984"/>
          <a:ext cx="10825207" cy="9190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88128">
                  <a:extLst>
                    <a:ext uri="{9D8B030D-6E8A-4147-A177-3AD203B41FA5}">
                      <a16:colId xmlns:a16="http://schemas.microsoft.com/office/drawing/2014/main" val="261477988"/>
                    </a:ext>
                  </a:extLst>
                </a:gridCol>
                <a:gridCol w="2471319">
                  <a:extLst>
                    <a:ext uri="{9D8B030D-6E8A-4147-A177-3AD203B41FA5}">
                      <a16:colId xmlns:a16="http://schemas.microsoft.com/office/drawing/2014/main" val="487422442"/>
                    </a:ext>
                  </a:extLst>
                </a:gridCol>
                <a:gridCol w="3068803">
                  <a:extLst>
                    <a:ext uri="{9D8B030D-6E8A-4147-A177-3AD203B41FA5}">
                      <a16:colId xmlns:a16="http://schemas.microsoft.com/office/drawing/2014/main" val="2472052662"/>
                    </a:ext>
                  </a:extLst>
                </a:gridCol>
                <a:gridCol w="3096957">
                  <a:extLst>
                    <a:ext uri="{9D8B030D-6E8A-4147-A177-3AD203B41FA5}">
                      <a16:colId xmlns:a16="http://schemas.microsoft.com/office/drawing/2014/main" val="2091609847"/>
                    </a:ext>
                  </a:extLst>
                </a:gridCol>
              </a:tblGrid>
              <a:tr h="3698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8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Mass of product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Mass of Waste Generated </a:t>
                      </a:r>
                      <a:endParaRPr lang="en-GB" sz="18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Mass of Hazardous Waste </a:t>
                      </a:r>
                      <a:endParaRPr lang="en-GB" sz="18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136211"/>
                  </a:ext>
                </a:extLst>
              </a:tr>
              <a:tr h="5491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 X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0.252 g 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167 g</a:t>
                      </a:r>
                      <a:endParaRPr lang="en-GB" sz="18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 g </a:t>
                      </a:r>
                      <a:endParaRPr lang="en-GB" sz="18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344059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39FB75A5-0D16-B27E-DE39-04F161F650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6" t="15659" r="11969" b="8217"/>
          <a:stretch>
            <a:fillRect/>
          </a:stretch>
        </p:blipFill>
        <p:spPr>
          <a:xfrm>
            <a:off x="782482" y="8033119"/>
            <a:ext cx="5135544" cy="27799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8E2C94-1627-381C-7A86-E7698B5F2E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9" t="15926" r="2133" b="7620"/>
          <a:stretch>
            <a:fillRect/>
          </a:stretch>
        </p:blipFill>
        <p:spPr>
          <a:xfrm>
            <a:off x="6306492" y="8069179"/>
            <a:ext cx="5103024" cy="29926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A0C41B4-224F-4737-3721-4F2C04D3CFD8}"/>
              </a:ext>
            </a:extLst>
          </p:cNvPr>
          <p:cNvSpPr txBox="1"/>
          <p:nvPr/>
        </p:nvSpPr>
        <p:spPr>
          <a:xfrm>
            <a:off x="6306492" y="11087811"/>
            <a:ext cx="51030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Shows how it is only possible for students to achieve a poor E-factor from this experiment. Even a 100 % yield will result in a poor E-factor.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995CB8-1CA5-FC95-1E3F-8C130BADB15B}"/>
              </a:ext>
            </a:extLst>
          </p:cNvPr>
          <p:cNvSpPr txBox="1"/>
          <p:nvPr/>
        </p:nvSpPr>
        <p:spPr>
          <a:xfrm>
            <a:off x="9317478" y="976001"/>
            <a:ext cx="224593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Skills: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TLC to monitor a reaction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Separating Funnel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Rotary evaporator to remove solvent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Recrystallisation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522C8A-B7BF-64FE-71C4-3A633F02D652}"/>
              </a:ext>
            </a:extLst>
          </p:cNvPr>
          <p:cNvSpPr/>
          <p:nvPr/>
        </p:nvSpPr>
        <p:spPr>
          <a:xfrm>
            <a:off x="9334500" y="976001"/>
            <a:ext cx="2101649" cy="25283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DB6C6279-1D4E-F696-6011-9BBDF580CB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178777"/>
              </p:ext>
            </p:extLst>
          </p:nvPr>
        </p:nvGraphicFramePr>
        <p:xfrm>
          <a:off x="1379708" y="945232"/>
          <a:ext cx="7262505" cy="2684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6" imgW="3989428" imgH="1474668" progId="ChemDraw_x64.Document.6.0">
                  <p:embed/>
                </p:oleObj>
              </mc:Choice>
              <mc:Fallback>
                <p:oleObj name="CS ChemDraw 64-bit Drawing" r:id="rId6" imgW="3989428" imgH="1474668" progId="ChemDraw_x64.Document.6.0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DB6C6279-1D4E-F696-6011-9BBDF580CB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79708" y="945232"/>
                        <a:ext cx="7262505" cy="26847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7656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A5DCF-1EC1-C2BC-EB5C-8413580CE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D0D0C8-1FA3-D040-38BB-4218C1B31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7421" y="378548"/>
            <a:ext cx="10817157" cy="476069"/>
          </a:xfrm>
        </p:spPr>
        <p:txBody>
          <a:bodyPr>
            <a:normAutofit fontScale="90000"/>
          </a:bodyPr>
          <a:lstStyle/>
          <a:p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Preparation of…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227686-EAB0-70EE-0F4E-2A7CEC557340}"/>
              </a:ext>
            </a:extLst>
          </p:cNvPr>
          <p:cNvSpPr/>
          <p:nvPr/>
        </p:nvSpPr>
        <p:spPr>
          <a:xfrm>
            <a:off x="687421" y="898804"/>
            <a:ext cx="10817156" cy="39066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F666C23-E06C-721F-5159-67CA45CE5A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290493"/>
              </p:ext>
            </p:extLst>
          </p:nvPr>
        </p:nvGraphicFramePr>
        <p:xfrm>
          <a:off x="683394" y="4956710"/>
          <a:ext cx="10821183" cy="9190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87315">
                  <a:extLst>
                    <a:ext uri="{9D8B030D-6E8A-4147-A177-3AD203B41FA5}">
                      <a16:colId xmlns:a16="http://schemas.microsoft.com/office/drawing/2014/main" val="261477988"/>
                    </a:ext>
                  </a:extLst>
                </a:gridCol>
                <a:gridCol w="2470400">
                  <a:extLst>
                    <a:ext uri="{9D8B030D-6E8A-4147-A177-3AD203B41FA5}">
                      <a16:colId xmlns:a16="http://schemas.microsoft.com/office/drawing/2014/main" val="487422442"/>
                    </a:ext>
                  </a:extLst>
                </a:gridCol>
                <a:gridCol w="3067662">
                  <a:extLst>
                    <a:ext uri="{9D8B030D-6E8A-4147-A177-3AD203B41FA5}">
                      <a16:colId xmlns:a16="http://schemas.microsoft.com/office/drawing/2014/main" val="2472052662"/>
                    </a:ext>
                  </a:extLst>
                </a:gridCol>
                <a:gridCol w="3095806">
                  <a:extLst>
                    <a:ext uri="{9D8B030D-6E8A-4147-A177-3AD203B41FA5}">
                      <a16:colId xmlns:a16="http://schemas.microsoft.com/office/drawing/2014/main" val="2091609847"/>
                    </a:ext>
                  </a:extLst>
                </a:gridCol>
              </a:tblGrid>
              <a:tr h="3698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8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Mass of product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Mass of Waste Generated </a:t>
                      </a:r>
                      <a:endParaRPr lang="en-GB" sz="18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Mass of Hazardous Waste </a:t>
                      </a:r>
                      <a:endParaRPr lang="en-GB" sz="18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136211"/>
                  </a:ext>
                </a:extLst>
              </a:tr>
              <a:tr h="5491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 X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8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8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8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0344059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25FA5F0-BEB8-D6A9-CA03-578343A6DE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650166"/>
              </p:ext>
            </p:extLst>
          </p:nvPr>
        </p:nvGraphicFramePr>
        <p:xfrm>
          <a:off x="691445" y="6377109"/>
          <a:ext cx="10822887" cy="978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8487">
                  <a:extLst>
                    <a:ext uri="{9D8B030D-6E8A-4147-A177-3AD203B41FA5}">
                      <a16:colId xmlns:a16="http://schemas.microsoft.com/office/drawing/2014/main" val="3774288868"/>
                    </a:ext>
                  </a:extLst>
                </a:gridCol>
                <a:gridCol w="4327200">
                  <a:extLst>
                    <a:ext uri="{9D8B030D-6E8A-4147-A177-3AD203B41FA5}">
                      <a16:colId xmlns:a16="http://schemas.microsoft.com/office/drawing/2014/main" val="4041270877"/>
                    </a:ext>
                  </a:extLst>
                </a:gridCol>
                <a:gridCol w="4327200">
                  <a:extLst>
                    <a:ext uri="{9D8B030D-6E8A-4147-A177-3AD203B41FA5}">
                      <a16:colId xmlns:a16="http://schemas.microsoft.com/office/drawing/2014/main" val="544143736"/>
                    </a:ext>
                  </a:extLst>
                </a:gridCol>
              </a:tblGrid>
              <a:tr h="406999">
                <a:tc>
                  <a:txBody>
                    <a:bodyPr/>
                    <a:lstStyle/>
                    <a:p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Estimated Energy Usage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Estimated Cost of Reagents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815991"/>
                  </a:ext>
                </a:extLst>
              </a:tr>
              <a:tr h="571661"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 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800" dirty="0">
                        <a:highlight>
                          <a:srgbClr val="FFFF0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595353"/>
                  </a:ext>
                </a:extLst>
              </a:tr>
            </a:tbl>
          </a:graphicData>
        </a:graphic>
      </p:graphicFrame>
      <p:sp>
        <p:nvSpPr>
          <p:cNvPr id="14" name="Subtitle 13">
            <a:extLst>
              <a:ext uri="{FF2B5EF4-FFF2-40B4-BE49-F238E27FC236}">
                <a16:creationId xmlns:a16="http://schemas.microsoft.com/office/drawing/2014/main" id="{7B60BA5F-B41E-CFB7-C1C7-D0DEC10DF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7668" y="5875770"/>
            <a:ext cx="10825212" cy="673569"/>
          </a:xfrm>
        </p:spPr>
        <p:txBody>
          <a:bodyPr>
            <a:noAutofit/>
          </a:bodyPr>
          <a:lstStyle/>
          <a:p>
            <a:pPr algn="just"/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Student X is representative of a student who achieved an average yield in this experiment.</a:t>
            </a:r>
          </a:p>
          <a:p>
            <a:pPr algn="just"/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44AC3F6-E1F6-2B2D-8E64-C5082E7D8E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81122"/>
              </p:ext>
            </p:extLst>
          </p:nvPr>
        </p:nvGraphicFramePr>
        <p:xfrm>
          <a:off x="1008500" y="3604260"/>
          <a:ext cx="10175000" cy="1112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000">
                  <a:extLst>
                    <a:ext uri="{9D8B030D-6E8A-4147-A177-3AD203B41FA5}">
                      <a16:colId xmlns:a16="http://schemas.microsoft.com/office/drawing/2014/main" val="1019814480"/>
                    </a:ext>
                  </a:extLst>
                </a:gridCol>
                <a:gridCol w="2035000">
                  <a:extLst>
                    <a:ext uri="{9D8B030D-6E8A-4147-A177-3AD203B41FA5}">
                      <a16:colId xmlns:a16="http://schemas.microsoft.com/office/drawing/2014/main" val="2238088619"/>
                    </a:ext>
                  </a:extLst>
                </a:gridCol>
                <a:gridCol w="2035000">
                  <a:extLst>
                    <a:ext uri="{9D8B030D-6E8A-4147-A177-3AD203B41FA5}">
                      <a16:colId xmlns:a16="http://schemas.microsoft.com/office/drawing/2014/main" val="1067779865"/>
                    </a:ext>
                  </a:extLst>
                </a:gridCol>
                <a:gridCol w="2035000">
                  <a:extLst>
                    <a:ext uri="{9D8B030D-6E8A-4147-A177-3AD203B41FA5}">
                      <a16:colId xmlns:a16="http://schemas.microsoft.com/office/drawing/2014/main" val="3236657354"/>
                    </a:ext>
                  </a:extLst>
                </a:gridCol>
                <a:gridCol w="2035000">
                  <a:extLst>
                    <a:ext uri="{9D8B030D-6E8A-4147-A177-3AD203B41FA5}">
                      <a16:colId xmlns:a16="http://schemas.microsoft.com/office/drawing/2014/main" val="2549884812"/>
                    </a:ext>
                  </a:extLst>
                </a:gridCol>
              </a:tblGrid>
              <a:tr h="707785"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Atom Efficiency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Percentage Yield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E-Factor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Reaction Mass Efficiency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 Mass Intensity (PMI)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86160"/>
                  </a:ext>
                </a:extLst>
              </a:tr>
              <a:tr h="404449">
                <a:tc>
                  <a:txBody>
                    <a:bodyPr/>
                    <a:lstStyle/>
                    <a:p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862815"/>
                  </a:ext>
                </a:extLst>
              </a:tr>
            </a:tbl>
          </a:graphicData>
        </a:graphic>
      </p:graphicFrame>
      <p:sp>
        <p:nvSpPr>
          <p:cNvPr id="52" name="Rectangle 51">
            <a:extLst>
              <a:ext uri="{FF2B5EF4-FFF2-40B4-BE49-F238E27FC236}">
                <a16:creationId xmlns:a16="http://schemas.microsoft.com/office/drawing/2014/main" id="{DCA7EF99-0589-3C11-BE67-7BF594A29F5D}"/>
              </a:ext>
            </a:extLst>
          </p:cNvPr>
          <p:cNvSpPr/>
          <p:nvPr/>
        </p:nvSpPr>
        <p:spPr>
          <a:xfrm>
            <a:off x="679365" y="7532514"/>
            <a:ext cx="5329631" cy="5185151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E45C3FE-92B3-637B-FD2E-0F8EDAEECECC}"/>
              </a:ext>
            </a:extLst>
          </p:cNvPr>
          <p:cNvSpPr/>
          <p:nvPr/>
        </p:nvSpPr>
        <p:spPr>
          <a:xfrm>
            <a:off x="6166890" y="7532514"/>
            <a:ext cx="5329631" cy="5185151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1" name="Table 60">
                <a:extLst>
                  <a:ext uri="{FF2B5EF4-FFF2-40B4-BE49-F238E27FC236}">
                    <a16:creationId xmlns:a16="http://schemas.microsoft.com/office/drawing/2014/main" id="{4C3F80EA-E9CA-44DF-3B34-8226934FB53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3395" y="12849743"/>
              <a:ext cx="10808355" cy="29874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2421">
                      <a:extLst>
                        <a:ext uri="{9D8B030D-6E8A-4147-A177-3AD203B41FA5}">
                          <a16:colId xmlns:a16="http://schemas.microsoft.com/office/drawing/2014/main" val="2212660851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3390711754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918066876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183707299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1434114583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081822805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107851083"/>
                        </a:ext>
                      </a:extLst>
                    </a:gridCol>
                  </a:tblGrid>
                  <a:tr h="691020">
                    <a:tc>
                      <a:txBody>
                        <a:bodyPr/>
                        <a:lstStyle/>
                        <a:p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% based metrics</a:t>
                          </a:r>
                          <a:r>
                            <a:rPr lang="en-GB" sz="18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E-Factor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PMI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% Hazardous Waste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Mass of Waste/Student (g) 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Cost/student (£)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8747805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Green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(good)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31.24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1.56 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7449638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Yellow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(medium)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70 %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&lt;90 %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≤100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31.2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≤49.6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10 %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≤30 %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≤200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1.56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≤3.13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4861817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Red 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(poor)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&lt;70 %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&gt;49.59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&gt;30 %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200 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3.13 </m:t>
                                </m:r>
                              </m:oMath>
                            </m:oMathPara>
                          </a14:m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3110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1" name="Table 60">
                <a:extLst>
                  <a:ext uri="{FF2B5EF4-FFF2-40B4-BE49-F238E27FC236}">
                    <a16:creationId xmlns:a16="http://schemas.microsoft.com/office/drawing/2014/main" id="{4C3F80EA-E9CA-44DF-3B34-8226934FB53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3395" y="12849743"/>
              <a:ext cx="10808355" cy="29874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2421">
                      <a:extLst>
                        <a:ext uri="{9D8B030D-6E8A-4147-A177-3AD203B41FA5}">
                          <a16:colId xmlns:a16="http://schemas.microsoft.com/office/drawing/2014/main" val="2212660851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3390711754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918066876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183707299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1434114583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081822805"/>
                        </a:ext>
                      </a:extLst>
                    </a:gridCol>
                    <a:gridCol w="1595989">
                      <a:extLst>
                        <a:ext uri="{9D8B030D-6E8A-4147-A177-3AD203B41FA5}">
                          <a16:colId xmlns:a16="http://schemas.microsoft.com/office/drawing/2014/main" val="410785108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GB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% based metrics</a:t>
                          </a:r>
                          <a:r>
                            <a:rPr lang="en-GB" sz="18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E-Factor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PMI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% Hazardous Waste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Mass of Waste/Student (g) 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Cost/student (£)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8747805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Green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(good)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7481" t="-135965" r="-500763" b="-20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7481" t="-135965" r="-400763" b="-20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481" t="-135965" r="-300763" b="-20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7481" t="-135965" r="-200763" b="-20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7481" t="-135965" r="-100763" b="-206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77481" t="-135965" r="-763" b="-2061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7449638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Yellow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(medium)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7481" t="-238053" r="-500763" b="-10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7481" t="-238053" r="-400763" b="-10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481" t="-238053" r="-300763" b="-10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7481" t="-238053" r="-200763" b="-10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7481" t="-238053" r="-100763" b="-10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77481" t="-238053" r="-763" b="-1079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4861817"/>
                      </a:ext>
                    </a:extLst>
                  </a:tr>
                  <a:tr h="69102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Red </a:t>
                          </a:r>
                        </a:p>
                        <a:p>
                          <a:r>
                            <a:rPr lang="en-GB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(poor)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7481" t="-335088" r="-500763" b="-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7481" t="-335088" r="-400763" b="-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481" t="-335088" r="-300763" b="-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7481" t="-335088" r="-200763" b="-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7481" t="-335088" r="-100763" b="-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77481" t="-335088" r="-763" b="-70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3110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F8B51383-DF08-5DE2-5891-504797ED8C86}"/>
              </a:ext>
            </a:extLst>
          </p:cNvPr>
          <p:cNvSpPr txBox="1"/>
          <p:nvPr/>
        </p:nvSpPr>
        <p:spPr>
          <a:xfrm>
            <a:off x="6306492" y="7506497"/>
            <a:ext cx="5103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Range of Percentage Yield Values in a Cohort Compared with E-Factor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5F9A19-D446-57B4-64E4-78178BB9D405}"/>
              </a:ext>
            </a:extLst>
          </p:cNvPr>
          <p:cNvSpPr txBox="1"/>
          <p:nvPr/>
        </p:nvSpPr>
        <p:spPr>
          <a:xfrm>
            <a:off x="1151877" y="7537843"/>
            <a:ext cx="4639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Percentage Yield and E-Factor for…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E172CC-1D9A-BF01-7694-441CCB883DA2}"/>
              </a:ext>
            </a:extLst>
          </p:cNvPr>
          <p:cNvSpPr txBox="1"/>
          <p:nvPr/>
        </p:nvSpPr>
        <p:spPr>
          <a:xfrm>
            <a:off x="9223172" y="954544"/>
            <a:ext cx="24237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Skills: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3A285F-05E6-26D1-D2ED-DE7BEFFCEE88}"/>
              </a:ext>
            </a:extLst>
          </p:cNvPr>
          <p:cNvSpPr/>
          <p:nvPr/>
        </p:nvSpPr>
        <p:spPr>
          <a:xfrm>
            <a:off x="9251747" y="978098"/>
            <a:ext cx="2101649" cy="12709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605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9D7667C-9D9C-4466-B410-321ED1DBD7DC}">
  <we:reference id="WA200006038" version="1.0.0.4" store="Omex" storeType="OMEX"/>
  <we:alternateReferences>
    <we:reference id="WA200006038" version="1.0.0.4" store="WA200006038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518AEF330CDF4F9C20235BB71182FD" ma:contentTypeVersion="3" ma:contentTypeDescription="Create a new document." ma:contentTypeScope="" ma:versionID="4f1c40558ad33da8354852fc8bb8016e">
  <xsd:schema xmlns:xsd="http://www.w3.org/2001/XMLSchema" xmlns:xs="http://www.w3.org/2001/XMLSchema" xmlns:p="http://schemas.microsoft.com/office/2006/metadata/properties" xmlns:ns2="91086247-0921-4639-adb1-0a76d6f67d72" targetNamespace="http://schemas.microsoft.com/office/2006/metadata/properties" ma:root="true" ma:fieldsID="d3de283f90d72d3841d2ef4a4c289963" ns2:_="">
    <xsd:import namespace="91086247-0921-4639-adb1-0a76d6f67d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086247-0921-4639-adb1-0a76d6f67d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E19AA80-1276-4F2B-B550-FA066115C5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086247-0921-4639-adb1-0a76d6f67d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217BE2A-6F09-4187-886E-4CA2B32A24E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27B94A-97F6-4D12-87D3-C1739DFC6743}">
  <ds:schemaRefs>
    <ds:schemaRef ds:uri="http://schemas.microsoft.com/office/2006/documentManagement/types"/>
    <ds:schemaRef ds:uri="http://purl.org/dc/elements/1.1/"/>
    <ds:schemaRef ds:uri="http://purl.org/dc/dcmitype/"/>
    <ds:schemaRef ds:uri="http://schemas.microsoft.com/office/2006/metadata/properties"/>
    <ds:schemaRef ds:uri="91086247-0921-4639-adb1-0a76d6f67d72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1505</Words>
  <Application>Microsoft Office PowerPoint</Application>
  <PresentationFormat>Custom</PresentationFormat>
  <Paragraphs>372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Preparation of 3-Methylbutyl Acetate </vt:lpstr>
      <vt:lpstr>Preparation of Paracetamol</vt:lpstr>
      <vt:lpstr>Preparation of Diphenylmethanol</vt:lpstr>
      <vt:lpstr>Preparation of 4-Nitroaniline </vt:lpstr>
      <vt:lpstr>Oxidation of 9-Fluorenol </vt:lpstr>
      <vt:lpstr>Preparation of…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Imogen Rimmer</dc:creator>
  <cp:lastModifiedBy>Andrew Nortcliffe (staff)</cp:lastModifiedBy>
  <cp:revision>3</cp:revision>
  <dcterms:created xsi:type="dcterms:W3CDTF">2026-02-07T16:05:45Z</dcterms:created>
  <dcterms:modified xsi:type="dcterms:W3CDTF">2026-06-23T09:48:49Z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0x0101003A518AEF330CDF4F9C20235BB71182FD</vt:lpwstr>
  </property>
</Properties>
</file>